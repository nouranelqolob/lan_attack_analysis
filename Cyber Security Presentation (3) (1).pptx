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webextensions/webextension1.xml" ContentType="application/vnd.ms-office.webextensio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Anton" pitchFamily="2" charset="0"/>
      <p:regular r:id="rId20"/>
    </p:embeddedFont>
    <p:embeddedFont>
      <p:font typeface="Droid Arabic Kufi" panose="020B0604020202020204" charset="0"/>
      <p:regular r:id="rId21"/>
    </p:embeddedFont>
    <p:embeddedFont>
      <p:font typeface="Raleway" pitchFamily="2" charset="0"/>
      <p:regular r:id="rId22"/>
    </p:embeddedFont>
    <p:embeddedFont>
      <p:font typeface="Raleway Bold" charset="0"/>
      <p:regular r:id="rId23"/>
    </p:embeddedFont>
    <p:embeddedFont>
      <p:font typeface="TT Lakes Neue" panose="020B0604020202020204" charset="0"/>
      <p:regular r:id="rId24"/>
    </p:embeddedFont>
    <p:embeddedFont>
      <p:font typeface="TT Lakes Neue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1694"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2.svg"/><Relationship Id="rId2" Type="http://schemas.openxmlformats.org/officeDocument/2006/relationships/hyperlink" Target="https://github.com/nouranelqolob" TargetMode="Externa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2.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2.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2.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1.jpeg"/><Relationship Id="rId7" Type="http://schemas.openxmlformats.org/officeDocument/2006/relationships/image" Target="../media/image22.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6.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9.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sv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microsoft.com/office/2011/relationships/webextension" Target="../webextensions/webextension1.xml"/><Relationship Id="rId3" Type="http://schemas.openxmlformats.org/officeDocument/2006/relationships/image" Target="../media/image30.jpeg"/><Relationship Id="rId7" Type="http://schemas.openxmlformats.org/officeDocument/2006/relationships/image" Target="../media/image31.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hyperlink" Target="https://github.com/nouranelqolob" TargetMode="External"/><Relationship Id="rId5" Type="http://schemas.openxmlformats.org/officeDocument/2006/relationships/image" Target="../media/image2.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pPr algn="ctr"/>
            <a:endParaRPr lang="en-US" sz="2333" dirty="0">
              <a:solidFill>
                <a:srgbClr val="FFFFFF"/>
              </a:solidFill>
              <a:latin typeface="TT Lakes Neue"/>
            </a:endParaRPr>
          </a:p>
        </p:txBody>
      </p:sp>
      <p:grpSp>
        <p:nvGrpSpPr>
          <p:cNvPr id="3" name="Group 3"/>
          <p:cNvGrpSpPr/>
          <p:nvPr/>
        </p:nvGrpSpPr>
        <p:grpSpPr>
          <a:xfrm>
            <a:off x="0" y="3393895"/>
            <a:ext cx="18387059" cy="3515099"/>
            <a:chOff x="0" y="0"/>
            <a:chExt cx="4842682" cy="925787"/>
          </a:xfrm>
        </p:grpSpPr>
        <p:sp>
          <p:nvSpPr>
            <p:cNvPr id="4" name="Freeform 4"/>
            <p:cNvSpPr/>
            <p:nvPr/>
          </p:nvSpPr>
          <p:spPr>
            <a:xfrm>
              <a:off x="0" y="0"/>
              <a:ext cx="4842682" cy="925787"/>
            </a:xfrm>
            <a:custGeom>
              <a:avLst/>
              <a:gdLst/>
              <a:ahLst/>
              <a:cxnLst/>
              <a:rect l="l" t="t" r="r" b="b"/>
              <a:pathLst>
                <a:path w="4842682" h="925787">
                  <a:moveTo>
                    <a:pt x="0" y="0"/>
                  </a:moveTo>
                  <a:lnTo>
                    <a:pt x="4842682" y="0"/>
                  </a:lnTo>
                  <a:lnTo>
                    <a:pt x="4842682" y="925787"/>
                  </a:lnTo>
                  <a:lnTo>
                    <a:pt x="0" y="925787"/>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4842682" cy="887687"/>
            </a:xfrm>
            <a:prstGeom prst="rect">
              <a:avLst/>
            </a:prstGeom>
          </p:spPr>
          <p:txBody>
            <a:bodyPr lIns="50800" tIns="50800" rIns="50800" bIns="50800" rtlCol="0" anchor="ctr"/>
            <a:lstStyle/>
            <a:p>
              <a:pPr algn="ctr">
                <a:lnSpc>
                  <a:spcPts val="2473"/>
                </a:lnSpc>
              </a:pPr>
              <a:endParaRPr/>
            </a:p>
          </p:txBody>
        </p:sp>
      </p:grpSp>
      <p:sp>
        <p:nvSpPr>
          <p:cNvPr id="6" name="Freeform 6"/>
          <p:cNvSpPr/>
          <p:nvPr/>
        </p:nvSpPr>
        <p:spPr>
          <a:xfrm>
            <a:off x="7594631" y="1465245"/>
            <a:ext cx="2351901" cy="2351901"/>
          </a:xfrm>
          <a:custGeom>
            <a:avLst/>
            <a:gdLst/>
            <a:ahLst/>
            <a:cxnLst/>
            <a:rect l="l" t="t" r="r" b="b"/>
            <a:pathLst>
              <a:path w="2351901" h="2351901">
                <a:moveTo>
                  <a:pt x="0" y="0"/>
                </a:moveTo>
                <a:lnTo>
                  <a:pt x="2351900" y="0"/>
                </a:lnTo>
                <a:lnTo>
                  <a:pt x="2351900" y="2351901"/>
                </a:lnTo>
                <a:lnTo>
                  <a:pt x="0" y="23519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dirty="0"/>
          </a:p>
        </p:txBody>
      </p:sp>
      <p:grpSp>
        <p:nvGrpSpPr>
          <p:cNvPr id="7" name="Group 7"/>
          <p:cNvGrpSpPr/>
          <p:nvPr/>
        </p:nvGrpSpPr>
        <p:grpSpPr>
          <a:xfrm>
            <a:off x="16321766" y="9615834"/>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4"/>
            <a:stretch>
              <a:fillRect/>
            </a:stretch>
          </a:blipFill>
        </p:spPr>
        <p:txBody>
          <a:bodyPr/>
          <a:lstStyle/>
          <a:p>
            <a:endParaRPr lang="ar-EG"/>
          </a:p>
        </p:txBody>
      </p:sp>
      <p:sp>
        <p:nvSpPr>
          <p:cNvPr id="11" name="TextBox 11"/>
          <p:cNvSpPr txBox="1"/>
          <p:nvPr/>
        </p:nvSpPr>
        <p:spPr>
          <a:xfrm>
            <a:off x="1924050" y="4305077"/>
            <a:ext cx="14538959" cy="1857821"/>
          </a:xfrm>
          <a:prstGeom prst="rect">
            <a:avLst/>
          </a:prstGeom>
        </p:spPr>
        <p:txBody>
          <a:bodyPr lIns="0" tIns="0" rIns="0" bIns="0" rtlCol="0" anchor="t">
            <a:spAutoFit/>
          </a:bodyPr>
          <a:lstStyle/>
          <a:p>
            <a:pPr algn="ctr">
              <a:lnSpc>
                <a:spcPts val="14223"/>
              </a:lnSpc>
              <a:spcBef>
                <a:spcPct val="0"/>
              </a:spcBef>
            </a:pPr>
            <a:r>
              <a:rPr lang="en-US" sz="13417">
                <a:solidFill>
                  <a:srgbClr val="FFFFFF"/>
                </a:solidFill>
                <a:latin typeface="Anton"/>
                <a:ea typeface="Anton"/>
                <a:cs typeface="Anton"/>
                <a:sym typeface="Anton"/>
              </a:rPr>
              <a:t>LAN Attacks Analysis</a:t>
            </a:r>
          </a:p>
        </p:txBody>
      </p:sp>
      <p:sp>
        <p:nvSpPr>
          <p:cNvPr id="12" name="Freeform 12"/>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5"/>
            <a:stretch>
              <a:fillRect r="-2988"/>
            </a:stretch>
          </a:blipFill>
        </p:spPr>
        <p:txBody>
          <a:bodyPr/>
          <a:lstStyle/>
          <a:p>
            <a:endParaRPr lang="ar-EG"/>
          </a:p>
        </p:txBody>
      </p:sp>
      <p:sp>
        <p:nvSpPr>
          <p:cNvPr id="13" name="Freeform 13"/>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15" name="TextBox 15"/>
          <p:cNvSpPr txBox="1"/>
          <p:nvPr/>
        </p:nvSpPr>
        <p:spPr>
          <a:xfrm>
            <a:off x="16656616" y="9872467"/>
            <a:ext cx="1205367" cy="192958"/>
          </a:xfrm>
          <a:prstGeom prst="rect">
            <a:avLst/>
          </a:prstGeom>
        </p:spPr>
        <p:txBody>
          <a:bodyPr lIns="0" tIns="0" rIns="0" bIns="0" rtlCol="0" anchor="t">
            <a:spAutoFit/>
          </a:bodyPr>
          <a:lstStyle/>
          <a:p>
            <a:pPr algn="ctr">
              <a:lnSpc>
                <a:spcPts val="1551"/>
              </a:lnSpc>
              <a:spcBef>
                <a:spcPct val="0"/>
              </a:spcBef>
            </a:pPr>
            <a:r>
              <a:rPr lang="en-US" sz="1463" b="1" spc="379">
                <a:solidFill>
                  <a:srgbClr val="FFFFFF"/>
                </a:solidFill>
                <a:latin typeface="TT Lakes Neue Bold"/>
                <a:ea typeface="TT Lakes Neue Bold"/>
                <a:cs typeface="TT Lakes Neue Bold"/>
                <a:sym typeface="TT Lakes Neue Bold"/>
              </a:rPr>
              <a:t>PAGE 1</a:t>
            </a:r>
          </a:p>
        </p:txBody>
      </p:sp>
      <p:sp>
        <p:nvSpPr>
          <p:cNvPr id="16" name="TextBox 16"/>
          <p:cNvSpPr txBox="1"/>
          <p:nvPr/>
        </p:nvSpPr>
        <p:spPr>
          <a:xfrm>
            <a:off x="1782807" y="3217469"/>
            <a:ext cx="14538959" cy="121893"/>
          </a:xfrm>
          <a:prstGeom prst="rect">
            <a:avLst/>
          </a:prstGeom>
        </p:spPr>
        <p:txBody>
          <a:bodyPr lIns="0" tIns="0" rIns="0" bIns="0" rtlCol="0" anchor="t">
            <a:spAutoFit/>
          </a:bodyPr>
          <a:lstStyle/>
          <a:p>
            <a:pPr algn="ctr">
              <a:lnSpc>
                <a:spcPts val="79"/>
              </a:lnSpc>
              <a:spcBef>
                <a:spcPct val="0"/>
              </a:spcBef>
            </a:pPr>
            <a:endParaRPr lang="en-US" sz="2919" dirty="0">
              <a:solidFill>
                <a:srgbClr val="FFFFFF"/>
              </a:solidFill>
              <a:latin typeface="Droid Arabic Kufi"/>
              <a:ea typeface="Droid Arabic Kufi"/>
              <a:cs typeface="Droid Arabic Kufi"/>
              <a:sym typeface="Droid Arabic Kufi"/>
            </a:endParaRPr>
          </a:p>
        </p:txBody>
      </p:sp>
      <p:sp>
        <p:nvSpPr>
          <p:cNvPr id="17" name="TextBox 17"/>
          <p:cNvSpPr txBox="1"/>
          <p:nvPr/>
        </p:nvSpPr>
        <p:spPr>
          <a:xfrm>
            <a:off x="5977318" y="6283769"/>
            <a:ext cx="6138482" cy="650756"/>
          </a:xfrm>
          <a:prstGeom prst="rect">
            <a:avLst/>
          </a:prstGeom>
        </p:spPr>
        <p:txBody>
          <a:bodyPr wrap="square" lIns="0" tIns="0" rIns="0" bIns="0" rtlCol="0" anchor="t">
            <a:spAutoFit/>
          </a:bodyPr>
          <a:lstStyle/>
          <a:p>
            <a:pPr algn="ctr">
              <a:lnSpc>
                <a:spcPts val="2473"/>
              </a:lnSpc>
              <a:spcBef>
                <a:spcPct val="0"/>
              </a:spcBef>
            </a:pPr>
            <a:r>
              <a:rPr lang="en-US" sz="2333" dirty="0">
                <a:solidFill>
                  <a:srgbClr val="FFFFFF"/>
                </a:solidFill>
                <a:latin typeface="TT Lakes Neue"/>
                <a:ea typeface="TT Lakes Neue"/>
                <a:cs typeface="TT Lakes Neue"/>
                <a:sym typeface="TT Lakes Neue"/>
              </a:rPr>
              <a:t>Uncovering the Invisible War on Our Network</a:t>
            </a:r>
          </a:p>
        </p:txBody>
      </p:sp>
      <p:sp>
        <p:nvSpPr>
          <p:cNvPr id="18" name="TextBox 18"/>
          <p:cNvSpPr txBox="1"/>
          <p:nvPr/>
        </p:nvSpPr>
        <p:spPr>
          <a:xfrm>
            <a:off x="1098567" y="8754397"/>
            <a:ext cx="2429828" cy="307777"/>
          </a:xfrm>
          <a:prstGeom prst="rect">
            <a:avLst/>
          </a:prstGeom>
        </p:spPr>
        <p:txBody>
          <a:bodyPr lIns="0" tIns="0" rIns="0" bIns="0" rtlCol="0" anchor="t">
            <a:spAutoFit/>
          </a:bodyPr>
          <a:lstStyle/>
          <a:p>
            <a:pPr algn="ctr"/>
            <a:r>
              <a:rPr lang="en-US" sz="2000" b="1" dirty="0">
                <a:solidFill>
                  <a:srgbClr val="00D4FF"/>
                </a:solidFill>
              </a:rPr>
              <a:t>5 ATTACK TYPES</a:t>
            </a:r>
            <a:endParaRPr lang="en-US" sz="2000" dirty="0"/>
          </a:p>
        </p:txBody>
      </p:sp>
      <p:sp>
        <p:nvSpPr>
          <p:cNvPr id="19" name="TextBox 19"/>
          <p:cNvSpPr txBox="1"/>
          <p:nvPr/>
        </p:nvSpPr>
        <p:spPr>
          <a:xfrm>
            <a:off x="1443822" y="9480794"/>
            <a:ext cx="1604178" cy="330155"/>
          </a:xfrm>
          <a:prstGeom prst="rect">
            <a:avLst/>
          </a:prstGeom>
        </p:spPr>
        <p:txBody>
          <a:bodyPr wrap="square" lIns="0" tIns="0" rIns="0" bIns="0" rtlCol="0" anchor="t">
            <a:spAutoFit/>
          </a:bodyPr>
          <a:lstStyle/>
          <a:p>
            <a:pPr algn="ctr">
              <a:lnSpc>
                <a:spcPts val="2473"/>
              </a:lnSpc>
              <a:spcBef>
                <a:spcPct val="0"/>
              </a:spcBef>
            </a:pPr>
            <a:r>
              <a:rPr lang="en-US" sz="2333" dirty="0">
                <a:solidFill>
                  <a:srgbClr val="FFFFFF"/>
                </a:solidFill>
                <a:latin typeface="TT Lakes Neue"/>
                <a:ea typeface="TT Lakes Neue"/>
                <a:cs typeface="TT Lakes Neue"/>
                <a:sym typeface="TT Lakes Neue"/>
              </a:rPr>
              <a:t>Detected</a:t>
            </a:r>
          </a:p>
        </p:txBody>
      </p:sp>
      <p:sp>
        <p:nvSpPr>
          <p:cNvPr id="20" name="Freeform 14">
            <a:extLst>
              <a:ext uri="{FF2B5EF4-FFF2-40B4-BE49-F238E27FC236}">
                <a16:creationId xmlns:a16="http://schemas.microsoft.com/office/drawing/2014/main" id="{1F18EB2A-4329-8748-F05B-4295C4878864}"/>
              </a:ext>
            </a:extLst>
          </p:cNvPr>
          <p:cNvSpPr/>
          <p:nvPr/>
        </p:nvSpPr>
        <p:spPr>
          <a:xfrm>
            <a:off x="4614612" y="3278415"/>
            <a:ext cx="8311938" cy="665887"/>
          </a:xfrm>
          <a:custGeom>
            <a:avLst/>
            <a:gdLst/>
            <a:ahLst/>
            <a:cxnLst/>
            <a:rect l="l" t="t" r="r" b="b"/>
            <a:pathLst>
              <a:path w="8705928" h="1110368">
                <a:moveTo>
                  <a:pt x="0" y="0"/>
                </a:moveTo>
                <a:lnTo>
                  <a:pt x="8705928" y="0"/>
                </a:lnTo>
                <a:lnTo>
                  <a:pt x="8705928" y="1110368"/>
                </a:lnTo>
                <a:lnTo>
                  <a:pt x="0" y="1110368"/>
                </a:lnTo>
                <a:lnTo>
                  <a:pt x="0" y="0"/>
                </a:lnTo>
                <a:close/>
              </a:path>
            </a:pathLst>
          </a:custGeom>
          <a:blipFill>
            <a:blip r:embed="rId6"/>
            <a:stretch>
              <a:fillRect/>
            </a:stretch>
          </a:blipFill>
        </p:spPr>
        <p:txBody>
          <a:bodyPr/>
          <a:lstStyle/>
          <a:p>
            <a:pPr algn="ctr"/>
            <a:r>
              <a:rPr lang="en-US" sz="2800" b="1" dirty="0">
                <a:solidFill>
                  <a:schemeClr val="bg1"/>
                </a:solidFill>
              </a:rPr>
              <a:t>⚠  CLASSIFIED: THREAT INTELLIGENCE REPORT</a:t>
            </a:r>
            <a:endParaRPr lang="en-US" sz="2800" dirty="0">
              <a:solidFill>
                <a:schemeClr val="bg1"/>
              </a:solidFill>
            </a:endParaRPr>
          </a:p>
          <a:p>
            <a:endParaRPr lang="ar-EG" dirty="0"/>
          </a:p>
        </p:txBody>
      </p:sp>
      <p:sp>
        <p:nvSpPr>
          <p:cNvPr id="22" name="TextBox 21">
            <a:extLst>
              <a:ext uri="{FF2B5EF4-FFF2-40B4-BE49-F238E27FC236}">
                <a16:creationId xmlns:a16="http://schemas.microsoft.com/office/drawing/2014/main" id="{1C23C50E-2DB9-1B48-4358-2886DF17A835}"/>
              </a:ext>
            </a:extLst>
          </p:cNvPr>
          <p:cNvSpPr txBox="1"/>
          <p:nvPr/>
        </p:nvSpPr>
        <p:spPr>
          <a:xfrm>
            <a:off x="4626962" y="8777749"/>
            <a:ext cx="2429828" cy="1323439"/>
          </a:xfrm>
          <a:prstGeom prst="rect">
            <a:avLst/>
          </a:prstGeom>
          <a:noFill/>
        </p:spPr>
        <p:txBody>
          <a:bodyPr wrap="square">
            <a:spAutoFit/>
          </a:bodyPr>
          <a:lstStyle/>
          <a:p>
            <a:pPr algn="ctr"/>
            <a:r>
              <a:rPr lang="en-US" sz="2000" b="1" dirty="0">
                <a:solidFill>
                  <a:srgbClr val="00D4FF"/>
                </a:solidFill>
              </a:rPr>
              <a:t>REAL LOGS</a:t>
            </a:r>
            <a:br>
              <a:rPr lang="en-US" sz="2000" b="1" dirty="0">
                <a:solidFill>
                  <a:srgbClr val="00D4FF"/>
                </a:solidFill>
              </a:rPr>
            </a:br>
            <a:br>
              <a:rPr lang="en-US" sz="2000" b="1" dirty="0">
                <a:solidFill>
                  <a:srgbClr val="00D4FF"/>
                </a:solidFill>
              </a:rPr>
            </a:br>
            <a:r>
              <a:rPr lang="en-US" sz="2000" dirty="0">
                <a:solidFill>
                  <a:srgbClr val="FFFFFF"/>
                </a:solidFill>
                <a:latin typeface="TT Lakes Neue"/>
              </a:rPr>
              <a:t>Data</a:t>
            </a:r>
            <a:r>
              <a:rPr lang="en-US" sz="2000" dirty="0">
                <a:solidFill>
                  <a:srgbClr val="64748B"/>
                </a:solidFill>
              </a:rPr>
              <a:t> </a:t>
            </a:r>
            <a:r>
              <a:rPr lang="en-US" sz="2000" dirty="0">
                <a:solidFill>
                  <a:srgbClr val="FFFFFF"/>
                </a:solidFill>
                <a:latin typeface="TT Lakes Neue"/>
              </a:rPr>
              <a:t>Source</a:t>
            </a:r>
          </a:p>
          <a:p>
            <a:pPr algn="ctr"/>
            <a:r>
              <a:rPr lang="en-US" sz="2000" b="1" dirty="0">
                <a:solidFill>
                  <a:srgbClr val="00D4FF"/>
                </a:solidFill>
              </a:rPr>
              <a:t> </a:t>
            </a:r>
          </a:p>
        </p:txBody>
      </p:sp>
      <p:sp>
        <p:nvSpPr>
          <p:cNvPr id="25" name="TextBox 24">
            <a:extLst>
              <a:ext uri="{FF2B5EF4-FFF2-40B4-BE49-F238E27FC236}">
                <a16:creationId xmlns:a16="http://schemas.microsoft.com/office/drawing/2014/main" id="{78CD5225-4A3C-3BA1-CEB9-DFD5A82459BB}"/>
              </a:ext>
            </a:extLst>
          </p:cNvPr>
          <p:cNvSpPr txBox="1"/>
          <p:nvPr/>
        </p:nvSpPr>
        <p:spPr>
          <a:xfrm>
            <a:off x="7928945" y="8798643"/>
            <a:ext cx="3137719" cy="1231106"/>
          </a:xfrm>
          <a:prstGeom prst="rect">
            <a:avLst/>
          </a:prstGeom>
          <a:noFill/>
        </p:spPr>
        <p:txBody>
          <a:bodyPr wrap="square">
            <a:spAutoFit/>
          </a:bodyPr>
          <a:lstStyle/>
          <a:p>
            <a:pPr algn="ctr"/>
            <a:r>
              <a:rPr lang="en-US" sz="2000" b="1" dirty="0">
                <a:solidFill>
                  <a:srgbClr val="00D4FF"/>
                </a:solidFill>
              </a:rPr>
              <a:t>POWER</a:t>
            </a:r>
            <a:r>
              <a:rPr lang="en-US" sz="1800" b="1" dirty="0">
                <a:solidFill>
                  <a:srgbClr val="00D4FF"/>
                </a:solidFill>
              </a:rPr>
              <a:t> BI</a:t>
            </a:r>
            <a:br>
              <a:rPr lang="en-US" sz="1800" b="1" dirty="0">
                <a:solidFill>
                  <a:srgbClr val="00D4FF"/>
                </a:solidFill>
              </a:rPr>
            </a:br>
            <a:br>
              <a:rPr lang="en-US" sz="1800" b="1" dirty="0">
                <a:solidFill>
                  <a:srgbClr val="00D4FF"/>
                </a:solidFill>
              </a:rPr>
            </a:br>
            <a:r>
              <a:rPr lang="en-US" dirty="0">
                <a:solidFill>
                  <a:srgbClr val="FFFFFF"/>
                </a:solidFill>
                <a:latin typeface="TT Lakes Neue"/>
              </a:rPr>
              <a:t>Analysis</a:t>
            </a:r>
            <a:r>
              <a:rPr lang="en-US" dirty="0">
                <a:solidFill>
                  <a:srgbClr val="64748B"/>
                </a:solidFill>
              </a:rPr>
              <a:t> </a:t>
            </a:r>
            <a:r>
              <a:rPr lang="en-US" dirty="0">
                <a:solidFill>
                  <a:srgbClr val="FFFFFF"/>
                </a:solidFill>
                <a:latin typeface="TT Lakes Neue"/>
              </a:rPr>
              <a:t>Tool</a:t>
            </a:r>
          </a:p>
          <a:p>
            <a:pPr marL="0" indent="0" algn="ctr">
              <a:buNone/>
            </a:pP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hlinkClick r:id="rId2"/>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11996079" y="2182140"/>
            <a:ext cx="18387059" cy="3515099"/>
            <a:chOff x="0" y="0"/>
            <a:chExt cx="4842682" cy="925787"/>
          </a:xfrm>
        </p:grpSpPr>
        <p:sp>
          <p:nvSpPr>
            <p:cNvPr id="7" name="Freeform 7"/>
            <p:cNvSpPr/>
            <p:nvPr/>
          </p:nvSpPr>
          <p:spPr>
            <a:xfrm>
              <a:off x="0" y="0"/>
              <a:ext cx="4842682" cy="925787"/>
            </a:xfrm>
            <a:custGeom>
              <a:avLst/>
              <a:gdLst/>
              <a:ahLst/>
              <a:cxnLst/>
              <a:rect l="l" t="t" r="r" b="b"/>
              <a:pathLst>
                <a:path w="4842682" h="925787">
                  <a:moveTo>
                    <a:pt x="0" y="0"/>
                  </a:moveTo>
                  <a:lnTo>
                    <a:pt x="4842682" y="0"/>
                  </a:lnTo>
                  <a:lnTo>
                    <a:pt x="4842682" y="925787"/>
                  </a:lnTo>
                  <a:lnTo>
                    <a:pt x="0" y="925787"/>
                  </a:lnTo>
                  <a:close/>
                </a:path>
              </a:pathLst>
            </a:custGeom>
            <a:gradFill rotWithShape="1">
              <a:gsLst>
                <a:gs pos="0">
                  <a:srgbClr val="45DEEF">
                    <a:alpha val="100000"/>
                  </a:srgbClr>
                </a:gs>
                <a:gs pos="100000">
                  <a:srgbClr val="0074AD">
                    <a:alpha val="6500"/>
                  </a:srgbClr>
                </a:gs>
              </a:gsLst>
              <a:lin ang="0"/>
            </a:gradFill>
          </p:spPr>
          <p:txBody>
            <a:bodyPr/>
            <a:lstStyle/>
            <a:p>
              <a:endParaRPr lang="ar-EG" dirty="0"/>
            </a:p>
          </p:txBody>
        </p:sp>
        <p:sp>
          <p:nvSpPr>
            <p:cNvPr id="8" name="TextBox 8"/>
            <p:cNvSpPr txBox="1"/>
            <p:nvPr/>
          </p:nvSpPr>
          <p:spPr>
            <a:xfrm>
              <a:off x="0" y="38100"/>
              <a:ext cx="4842682" cy="887687"/>
            </a:xfrm>
            <a:prstGeom prst="rect">
              <a:avLst/>
            </a:prstGeom>
          </p:spPr>
          <p:txBody>
            <a:bodyPr lIns="50800" tIns="50800" rIns="50800" bIns="50800" rtlCol="0" anchor="ctr"/>
            <a:lstStyle/>
            <a:p>
              <a:pPr algn="ctr">
                <a:lnSpc>
                  <a:spcPts val="2473"/>
                </a:lnSpc>
              </a:pPr>
              <a:endParaRPr/>
            </a:p>
          </p:txBody>
        </p:sp>
      </p:grpSp>
      <p:grpSp>
        <p:nvGrpSpPr>
          <p:cNvPr id="9" name="Group 9"/>
          <p:cNvGrpSpPr/>
          <p:nvPr/>
        </p:nvGrpSpPr>
        <p:grpSpPr>
          <a:xfrm>
            <a:off x="1957432" y="5143500"/>
            <a:ext cx="4132267" cy="5009612"/>
            <a:chOff x="0" y="0"/>
            <a:chExt cx="484665" cy="587567"/>
          </a:xfrm>
        </p:grpSpPr>
        <p:sp>
          <p:nvSpPr>
            <p:cNvPr id="10" name="Freeform 10"/>
            <p:cNvSpPr/>
            <p:nvPr/>
          </p:nvSpPr>
          <p:spPr>
            <a:xfrm>
              <a:off x="0" y="0"/>
              <a:ext cx="484665" cy="587567"/>
            </a:xfrm>
            <a:custGeom>
              <a:avLst/>
              <a:gdLst/>
              <a:ahLst/>
              <a:cxnLst/>
              <a:rect l="l" t="t" r="r" b="b"/>
              <a:pathLst>
                <a:path w="484665" h="587567">
                  <a:moveTo>
                    <a:pt x="0" y="0"/>
                  </a:moveTo>
                  <a:lnTo>
                    <a:pt x="484665" y="0"/>
                  </a:lnTo>
                  <a:lnTo>
                    <a:pt x="484665" y="587567"/>
                  </a:lnTo>
                  <a:lnTo>
                    <a:pt x="0" y="587567"/>
                  </a:lnTo>
                  <a:close/>
                </a:path>
              </a:pathLst>
            </a:custGeom>
            <a:blipFill>
              <a:blip r:embed="rId4"/>
              <a:stretch>
                <a:fillRect l="-3172" r="-3172" b="-55948"/>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grpSp>
        <p:nvGrpSpPr>
          <p:cNvPr id="11" name="Group 11"/>
          <p:cNvGrpSpPr/>
          <p:nvPr/>
        </p:nvGrpSpPr>
        <p:grpSpPr>
          <a:xfrm>
            <a:off x="6929624" y="8223898"/>
            <a:ext cx="5696967" cy="1034402"/>
            <a:chOff x="0" y="0"/>
            <a:chExt cx="1500436" cy="272435"/>
          </a:xfrm>
        </p:grpSpPr>
        <p:sp>
          <p:nvSpPr>
            <p:cNvPr id="12" name="Freeform 12"/>
            <p:cNvSpPr/>
            <p:nvPr/>
          </p:nvSpPr>
          <p:spPr>
            <a:xfrm>
              <a:off x="0" y="0"/>
              <a:ext cx="1500436" cy="272435"/>
            </a:xfrm>
            <a:custGeom>
              <a:avLst/>
              <a:gdLst/>
              <a:ahLst/>
              <a:cxnLst/>
              <a:rect l="l" t="t" r="r" b="b"/>
              <a:pathLst>
                <a:path w="1500436" h="272435">
                  <a:moveTo>
                    <a:pt x="0" y="0"/>
                  </a:moveTo>
                  <a:lnTo>
                    <a:pt x="1500436" y="0"/>
                  </a:lnTo>
                  <a:lnTo>
                    <a:pt x="1500436" y="272435"/>
                  </a:lnTo>
                  <a:lnTo>
                    <a:pt x="0" y="272435"/>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13" name="TextBox 13"/>
            <p:cNvSpPr txBox="1"/>
            <p:nvPr/>
          </p:nvSpPr>
          <p:spPr>
            <a:xfrm>
              <a:off x="0" y="38100"/>
              <a:ext cx="1500436" cy="234335"/>
            </a:xfrm>
            <a:prstGeom prst="rect">
              <a:avLst/>
            </a:prstGeom>
          </p:spPr>
          <p:txBody>
            <a:bodyPr lIns="50800" tIns="50800" rIns="50800" bIns="50800" rtlCol="0" anchor="ctr"/>
            <a:lstStyle/>
            <a:p>
              <a:pPr algn="ctr">
                <a:lnSpc>
                  <a:spcPts val="2473"/>
                </a:lnSpc>
              </a:pPr>
              <a:endParaRPr/>
            </a:p>
          </p:txBody>
        </p:sp>
      </p:grpSp>
      <p:sp>
        <p:nvSpPr>
          <p:cNvPr id="14" name="Freeform 14"/>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5"/>
            <a:stretch>
              <a:fillRect/>
            </a:stretch>
          </a:blipFill>
        </p:spPr>
        <p:txBody>
          <a:bodyPr/>
          <a:lstStyle/>
          <a:p>
            <a:endParaRPr lang="ar-EG"/>
          </a:p>
        </p:txBody>
      </p:sp>
      <p:sp>
        <p:nvSpPr>
          <p:cNvPr id="15" name="Freeform 15"/>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6"/>
            <a:stretch>
              <a:fillRect r="-2988"/>
            </a:stretch>
          </a:blipFill>
        </p:spPr>
        <p:txBody>
          <a:bodyPr/>
          <a:lstStyle/>
          <a:p>
            <a:endParaRPr lang="ar-EG"/>
          </a:p>
        </p:txBody>
      </p:sp>
      <p:sp>
        <p:nvSpPr>
          <p:cNvPr id="16" name="Freeform 16"/>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ar-EG"/>
          </a:p>
        </p:txBody>
      </p:sp>
      <p:grpSp>
        <p:nvGrpSpPr>
          <p:cNvPr id="17" name="Group 17"/>
          <p:cNvGrpSpPr/>
          <p:nvPr/>
        </p:nvGrpSpPr>
        <p:grpSpPr>
          <a:xfrm>
            <a:off x="12908241" y="8223898"/>
            <a:ext cx="5096809" cy="1034402"/>
            <a:chOff x="0" y="0"/>
            <a:chExt cx="1342370" cy="272435"/>
          </a:xfrm>
        </p:grpSpPr>
        <p:sp>
          <p:nvSpPr>
            <p:cNvPr id="18" name="Freeform 18"/>
            <p:cNvSpPr/>
            <p:nvPr/>
          </p:nvSpPr>
          <p:spPr>
            <a:xfrm>
              <a:off x="0" y="0"/>
              <a:ext cx="1342370" cy="272435"/>
            </a:xfrm>
            <a:custGeom>
              <a:avLst/>
              <a:gdLst/>
              <a:ahLst/>
              <a:cxnLst/>
              <a:rect l="l" t="t" r="r" b="b"/>
              <a:pathLst>
                <a:path w="1342370" h="272435">
                  <a:moveTo>
                    <a:pt x="0" y="0"/>
                  </a:moveTo>
                  <a:lnTo>
                    <a:pt x="1342370" y="0"/>
                  </a:lnTo>
                  <a:lnTo>
                    <a:pt x="1342370" y="272435"/>
                  </a:lnTo>
                  <a:lnTo>
                    <a:pt x="0" y="272435"/>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19" name="TextBox 19"/>
            <p:cNvSpPr txBox="1"/>
            <p:nvPr/>
          </p:nvSpPr>
          <p:spPr>
            <a:xfrm>
              <a:off x="0" y="47625"/>
              <a:ext cx="1342370" cy="224810"/>
            </a:xfrm>
            <a:prstGeom prst="rect">
              <a:avLst/>
            </a:prstGeom>
          </p:spPr>
          <p:txBody>
            <a:bodyPr lIns="50800" tIns="50800" rIns="50800" bIns="50800" rtlCol="0" anchor="ctr"/>
            <a:lstStyle/>
            <a:p>
              <a:pPr marL="0" lvl="0" indent="0" algn="ctr">
                <a:lnSpc>
                  <a:spcPts val="3032"/>
                </a:lnSpc>
                <a:spcBef>
                  <a:spcPct val="0"/>
                </a:spcBef>
              </a:pPr>
              <a:r>
                <a:rPr lang="en-US" sz="2860" u="none" strike="noStrike">
                  <a:solidFill>
                    <a:srgbClr val="FFFFFF"/>
                  </a:solidFill>
                  <a:latin typeface="TT Lakes Neue"/>
                  <a:ea typeface="TT Lakes Neue"/>
                  <a:cs typeface="TT Lakes Neue"/>
                  <a:sym typeface="TT Lakes Neue"/>
                </a:rPr>
                <a:t>Data Analytics-Microsoft Power BI Specialist</a:t>
              </a:r>
            </a:p>
          </p:txBody>
        </p:sp>
      </p:grpSp>
      <p:grpSp>
        <p:nvGrpSpPr>
          <p:cNvPr id="20" name="Group 20"/>
          <p:cNvGrpSpPr/>
          <p:nvPr/>
        </p:nvGrpSpPr>
        <p:grpSpPr>
          <a:xfrm>
            <a:off x="1213096" y="3868662"/>
            <a:ext cx="6524771" cy="954923"/>
            <a:chOff x="0" y="0"/>
            <a:chExt cx="1718458" cy="251502"/>
          </a:xfrm>
        </p:grpSpPr>
        <p:sp>
          <p:nvSpPr>
            <p:cNvPr id="21" name="Freeform 21"/>
            <p:cNvSpPr/>
            <p:nvPr/>
          </p:nvSpPr>
          <p:spPr>
            <a:xfrm>
              <a:off x="0" y="0"/>
              <a:ext cx="1718458" cy="251502"/>
            </a:xfrm>
            <a:custGeom>
              <a:avLst/>
              <a:gdLst/>
              <a:ahLst/>
              <a:cxnLst/>
              <a:rect l="l" t="t" r="r" b="b"/>
              <a:pathLst>
                <a:path w="1718458" h="251502">
                  <a:moveTo>
                    <a:pt x="0" y="0"/>
                  </a:moveTo>
                  <a:lnTo>
                    <a:pt x="1718458" y="0"/>
                  </a:lnTo>
                  <a:lnTo>
                    <a:pt x="1718458" y="251502"/>
                  </a:lnTo>
                  <a:lnTo>
                    <a:pt x="0" y="251502"/>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22" name="TextBox 22"/>
            <p:cNvSpPr txBox="1"/>
            <p:nvPr/>
          </p:nvSpPr>
          <p:spPr>
            <a:xfrm>
              <a:off x="0" y="38100"/>
              <a:ext cx="1718458" cy="213402"/>
            </a:xfrm>
            <a:prstGeom prst="rect">
              <a:avLst/>
            </a:prstGeom>
          </p:spPr>
          <p:txBody>
            <a:bodyPr lIns="50800" tIns="50800" rIns="50800" bIns="50800" rtlCol="0" anchor="ctr"/>
            <a:lstStyle/>
            <a:p>
              <a:pPr algn="ctr">
                <a:lnSpc>
                  <a:spcPts val="2473"/>
                </a:lnSpc>
              </a:pPr>
              <a:endParaRPr/>
            </a:p>
          </p:txBody>
        </p:sp>
      </p:grpSp>
      <p:sp>
        <p:nvSpPr>
          <p:cNvPr id="23" name="TextBox 23"/>
          <p:cNvSpPr txBox="1"/>
          <p:nvPr/>
        </p:nvSpPr>
        <p:spPr>
          <a:xfrm>
            <a:off x="16656616" y="9872467"/>
            <a:ext cx="1205367" cy="192958"/>
          </a:xfrm>
          <a:prstGeom prst="rect">
            <a:avLst/>
          </a:prstGeom>
        </p:spPr>
        <p:txBody>
          <a:bodyPr lIns="0" tIns="0" rIns="0" bIns="0" rtlCol="0" anchor="t">
            <a:spAutoFit/>
          </a:bodyPr>
          <a:lstStyle/>
          <a:p>
            <a:pPr algn="ctr">
              <a:lnSpc>
                <a:spcPts val="1551"/>
              </a:lnSpc>
              <a:spcBef>
                <a:spcPct val="0"/>
              </a:spcBef>
            </a:pPr>
            <a:r>
              <a:rPr lang="en-US" sz="1463" b="1" spc="379">
                <a:solidFill>
                  <a:srgbClr val="FFFFFF"/>
                </a:solidFill>
                <a:latin typeface="TT Lakes Neue Bold"/>
                <a:ea typeface="TT Lakes Neue Bold"/>
                <a:cs typeface="TT Lakes Neue Bold"/>
                <a:sym typeface="TT Lakes Neue Bold"/>
              </a:rPr>
              <a:t>PAGE 2</a:t>
            </a:r>
          </a:p>
        </p:txBody>
      </p:sp>
      <p:sp>
        <p:nvSpPr>
          <p:cNvPr id="24" name="TextBox 24"/>
          <p:cNvSpPr txBox="1"/>
          <p:nvPr/>
        </p:nvSpPr>
        <p:spPr>
          <a:xfrm>
            <a:off x="2192753" y="2406885"/>
            <a:ext cx="5075698" cy="1654962"/>
          </a:xfrm>
          <a:prstGeom prst="rect">
            <a:avLst/>
          </a:prstGeom>
        </p:spPr>
        <p:txBody>
          <a:bodyPr lIns="0" tIns="0" rIns="0" bIns="0" rtlCol="0" anchor="t">
            <a:spAutoFit/>
          </a:bodyPr>
          <a:lstStyle/>
          <a:p>
            <a:pPr algn="l">
              <a:lnSpc>
                <a:spcPts val="6405"/>
              </a:lnSpc>
            </a:pPr>
            <a:r>
              <a:rPr lang="en-US" sz="6042">
                <a:solidFill>
                  <a:srgbClr val="FFFFFF"/>
                </a:solidFill>
                <a:latin typeface="Anton"/>
                <a:ea typeface="Anton"/>
                <a:cs typeface="Anton"/>
                <a:sym typeface="Anton"/>
              </a:rPr>
              <a:t>Developed By</a:t>
            </a:r>
          </a:p>
          <a:p>
            <a:pPr algn="l">
              <a:lnSpc>
                <a:spcPts val="6405"/>
              </a:lnSpc>
              <a:spcBef>
                <a:spcPct val="0"/>
              </a:spcBef>
            </a:pPr>
            <a:endParaRPr lang="en-US" sz="6042">
              <a:solidFill>
                <a:srgbClr val="FFFFFF"/>
              </a:solidFill>
              <a:latin typeface="Anton"/>
              <a:ea typeface="Anton"/>
              <a:cs typeface="Anton"/>
              <a:sym typeface="Anton"/>
            </a:endParaRPr>
          </a:p>
        </p:txBody>
      </p:sp>
      <p:sp>
        <p:nvSpPr>
          <p:cNvPr id="25" name="TextBox 25"/>
          <p:cNvSpPr txBox="1"/>
          <p:nvPr/>
        </p:nvSpPr>
        <p:spPr>
          <a:xfrm>
            <a:off x="1421181" y="3987314"/>
            <a:ext cx="6108602" cy="796372"/>
          </a:xfrm>
          <a:prstGeom prst="rect">
            <a:avLst/>
          </a:prstGeom>
        </p:spPr>
        <p:txBody>
          <a:bodyPr lIns="0" tIns="0" rIns="0" bIns="0" rtlCol="0" anchor="t">
            <a:spAutoFit/>
          </a:bodyPr>
          <a:lstStyle/>
          <a:p>
            <a:pPr algn="ctr">
              <a:lnSpc>
                <a:spcPts val="3032"/>
              </a:lnSpc>
              <a:spcBef>
                <a:spcPct val="0"/>
              </a:spcBef>
            </a:pPr>
            <a:r>
              <a:rPr lang="en-US" sz="2860" b="1" u="none" strike="noStrike" dirty="0">
                <a:solidFill>
                  <a:srgbClr val="F4F4F4"/>
                </a:solidFill>
                <a:latin typeface="TT Lakes Neue Bold"/>
                <a:ea typeface="TT Lakes Neue Bold"/>
                <a:cs typeface="TT Lakes Neue Bold"/>
                <a:sym typeface="TT Lakes Neue Bold"/>
              </a:rPr>
              <a:t>Nouran Salah Mohamed Hussien Sultan</a:t>
            </a:r>
            <a:endParaRPr lang="en-US" sz="3200" dirty="0">
              <a:solidFill>
                <a:srgbClr val="FFFFFF"/>
              </a:solidFill>
              <a:latin typeface="TT Lakes Neue"/>
              <a:ea typeface="TT Lakes Neue"/>
              <a:cs typeface="TT Lakes Neue"/>
              <a:sym typeface="TT Lakes Neue"/>
            </a:endParaRPr>
          </a:p>
        </p:txBody>
      </p:sp>
      <p:sp>
        <p:nvSpPr>
          <p:cNvPr id="26" name="TextBox 26"/>
          <p:cNvSpPr txBox="1"/>
          <p:nvPr/>
        </p:nvSpPr>
        <p:spPr>
          <a:xfrm>
            <a:off x="6929624" y="8382290"/>
            <a:ext cx="5841833" cy="765242"/>
          </a:xfrm>
          <a:prstGeom prst="rect">
            <a:avLst/>
          </a:prstGeom>
        </p:spPr>
        <p:txBody>
          <a:bodyPr lIns="0" tIns="0" rIns="0" bIns="0" rtlCol="0" anchor="t">
            <a:spAutoFit/>
          </a:bodyPr>
          <a:lstStyle/>
          <a:p>
            <a:pPr algn="ctr">
              <a:lnSpc>
                <a:spcPts val="3032"/>
              </a:lnSpc>
              <a:spcBef>
                <a:spcPct val="0"/>
              </a:spcBef>
            </a:pPr>
            <a:r>
              <a:rPr lang="en-US" sz="2860">
                <a:solidFill>
                  <a:srgbClr val="FFFFFF"/>
                </a:solidFill>
                <a:latin typeface="TT Lakes Neue"/>
                <a:ea typeface="TT Lakes Neue"/>
                <a:cs typeface="TT Lakes Neue"/>
                <a:sym typeface="TT Lakes Neue"/>
              </a:rPr>
              <a:t>Digital Egypt Pioneers Initiative (DEPI)</a:t>
            </a:r>
          </a:p>
        </p:txBody>
      </p:sp>
      <p:grpSp>
        <p:nvGrpSpPr>
          <p:cNvPr id="27" name="Group 27"/>
          <p:cNvGrpSpPr/>
          <p:nvPr/>
        </p:nvGrpSpPr>
        <p:grpSpPr>
          <a:xfrm>
            <a:off x="9891883" y="3868662"/>
            <a:ext cx="6429883" cy="883895"/>
            <a:chOff x="0" y="0"/>
            <a:chExt cx="1693467" cy="232795"/>
          </a:xfrm>
        </p:grpSpPr>
        <p:sp>
          <p:nvSpPr>
            <p:cNvPr id="28" name="Freeform 28"/>
            <p:cNvSpPr/>
            <p:nvPr/>
          </p:nvSpPr>
          <p:spPr>
            <a:xfrm>
              <a:off x="0" y="0"/>
              <a:ext cx="1693467" cy="232795"/>
            </a:xfrm>
            <a:custGeom>
              <a:avLst/>
              <a:gdLst/>
              <a:ahLst/>
              <a:cxnLst/>
              <a:rect l="l" t="t" r="r" b="b"/>
              <a:pathLst>
                <a:path w="1693467" h="232795">
                  <a:moveTo>
                    <a:pt x="0" y="0"/>
                  </a:moveTo>
                  <a:lnTo>
                    <a:pt x="1693467" y="0"/>
                  </a:lnTo>
                  <a:lnTo>
                    <a:pt x="1693467" y="232795"/>
                  </a:lnTo>
                  <a:lnTo>
                    <a:pt x="0" y="232795"/>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29" name="TextBox 29"/>
            <p:cNvSpPr txBox="1"/>
            <p:nvPr/>
          </p:nvSpPr>
          <p:spPr>
            <a:xfrm>
              <a:off x="0" y="38100"/>
              <a:ext cx="1693467" cy="194695"/>
            </a:xfrm>
            <a:prstGeom prst="rect">
              <a:avLst/>
            </a:prstGeom>
          </p:spPr>
          <p:txBody>
            <a:bodyPr lIns="50800" tIns="50800" rIns="50800" bIns="50800" rtlCol="0" anchor="ctr"/>
            <a:lstStyle/>
            <a:p>
              <a:pPr algn="ctr">
                <a:lnSpc>
                  <a:spcPts val="2473"/>
                </a:lnSpc>
              </a:pPr>
              <a:endParaRPr/>
            </a:p>
          </p:txBody>
        </p:sp>
      </p:grpSp>
      <p:sp>
        <p:nvSpPr>
          <p:cNvPr id="30" name="TextBox 30"/>
          <p:cNvSpPr txBox="1"/>
          <p:nvPr/>
        </p:nvSpPr>
        <p:spPr>
          <a:xfrm>
            <a:off x="10783269" y="2406885"/>
            <a:ext cx="5074976" cy="847732"/>
          </a:xfrm>
          <a:prstGeom prst="rect">
            <a:avLst/>
          </a:prstGeom>
        </p:spPr>
        <p:txBody>
          <a:bodyPr lIns="0" tIns="0" rIns="0" bIns="0" rtlCol="0" anchor="t">
            <a:spAutoFit/>
          </a:bodyPr>
          <a:lstStyle/>
          <a:p>
            <a:pPr algn="l">
              <a:lnSpc>
                <a:spcPts val="6404"/>
              </a:lnSpc>
              <a:spcBef>
                <a:spcPct val="0"/>
              </a:spcBef>
            </a:pPr>
            <a:r>
              <a:rPr lang="en-US" sz="6041">
                <a:solidFill>
                  <a:srgbClr val="FFFFFF"/>
                </a:solidFill>
                <a:latin typeface="Anton"/>
                <a:ea typeface="Anton"/>
                <a:cs typeface="Anton"/>
                <a:sym typeface="Anton"/>
              </a:rPr>
              <a:t>Supervised By </a:t>
            </a:r>
          </a:p>
        </p:txBody>
      </p:sp>
      <p:sp>
        <p:nvSpPr>
          <p:cNvPr id="31" name="TextBox 31"/>
          <p:cNvSpPr txBox="1"/>
          <p:nvPr/>
        </p:nvSpPr>
        <p:spPr>
          <a:xfrm>
            <a:off x="9144000" y="4083103"/>
            <a:ext cx="7443356" cy="515334"/>
          </a:xfrm>
          <a:prstGeom prst="rect">
            <a:avLst/>
          </a:prstGeom>
        </p:spPr>
        <p:txBody>
          <a:bodyPr lIns="0" tIns="0" rIns="0" bIns="0" rtlCol="0" anchor="t">
            <a:spAutoFit/>
          </a:bodyPr>
          <a:lstStyle/>
          <a:p>
            <a:pPr algn="ctr">
              <a:lnSpc>
                <a:spcPts val="3863"/>
              </a:lnSpc>
              <a:spcBef>
                <a:spcPct val="0"/>
              </a:spcBef>
            </a:pPr>
            <a:r>
              <a:rPr lang="en-US" sz="3645" dirty="0">
                <a:solidFill>
                  <a:srgbClr val="FFFFFF"/>
                </a:solidFill>
                <a:latin typeface="TT Lakes Neue"/>
                <a:ea typeface="TT Lakes Neue"/>
                <a:cs typeface="TT Lakes Neue"/>
                <a:sym typeface="TT Lakes Neue"/>
              </a:rPr>
              <a:t>ENG . Ahmed Hany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7459579" y="2004349"/>
            <a:ext cx="27740609" cy="1629149"/>
            <a:chOff x="0" y="0"/>
            <a:chExt cx="7306169" cy="429076"/>
          </a:xfrm>
        </p:grpSpPr>
        <p:sp>
          <p:nvSpPr>
            <p:cNvPr id="7" name="Freeform 7"/>
            <p:cNvSpPr/>
            <p:nvPr/>
          </p:nvSpPr>
          <p:spPr>
            <a:xfrm>
              <a:off x="0" y="0"/>
              <a:ext cx="7306169" cy="429076"/>
            </a:xfrm>
            <a:custGeom>
              <a:avLst/>
              <a:gdLst/>
              <a:ahLst/>
              <a:cxnLst/>
              <a:rect l="l" t="t" r="r" b="b"/>
              <a:pathLst>
                <a:path w="7306169" h="429076">
                  <a:moveTo>
                    <a:pt x="0" y="0"/>
                  </a:moveTo>
                  <a:lnTo>
                    <a:pt x="7306169" y="0"/>
                  </a:lnTo>
                  <a:lnTo>
                    <a:pt x="7306169" y="429076"/>
                  </a:lnTo>
                  <a:lnTo>
                    <a:pt x="0" y="429076"/>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8" name="TextBox 8"/>
            <p:cNvSpPr txBox="1"/>
            <p:nvPr/>
          </p:nvSpPr>
          <p:spPr>
            <a:xfrm>
              <a:off x="0" y="38100"/>
              <a:ext cx="7306169" cy="390976"/>
            </a:xfrm>
            <a:prstGeom prst="rect">
              <a:avLst/>
            </a:prstGeom>
          </p:spPr>
          <p:txBody>
            <a:bodyPr lIns="50800" tIns="50800" rIns="50800" bIns="50800" rtlCol="0" anchor="ctr"/>
            <a:lstStyle/>
            <a:p>
              <a:pPr algn="ctr">
                <a:lnSpc>
                  <a:spcPts val="2473"/>
                </a:lnSpc>
              </a:pPr>
              <a:endParaRPr/>
            </a:p>
          </p:txBody>
        </p:sp>
      </p:grpSp>
      <p:sp>
        <p:nvSpPr>
          <p:cNvPr id="9" name="TextBox 9"/>
          <p:cNvSpPr txBox="1"/>
          <p:nvPr/>
        </p:nvSpPr>
        <p:spPr>
          <a:xfrm>
            <a:off x="16656616" y="9872467"/>
            <a:ext cx="1268922" cy="415307"/>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3</a:t>
            </a:r>
          </a:p>
          <a:p>
            <a:pPr algn="ctr">
              <a:lnSpc>
                <a:spcPts val="1551"/>
              </a:lnSpc>
              <a:spcBef>
                <a:spcPct val="0"/>
              </a:spcBef>
            </a:pPr>
            <a:endParaRPr lang="en-US" sz="1463" b="1" spc="379" dirty="0">
              <a:solidFill>
                <a:srgbClr val="FFFFFF"/>
              </a:solidFill>
              <a:latin typeface="TT Lakes Neue Bold"/>
              <a:ea typeface="TT Lakes Neue Bold"/>
              <a:cs typeface="TT Lakes Neue Bold"/>
              <a:sym typeface="TT Lakes Neue Bold"/>
            </a:endParaRPr>
          </a:p>
        </p:txBody>
      </p:sp>
      <p:sp>
        <p:nvSpPr>
          <p:cNvPr id="10" name="TextBox 10"/>
          <p:cNvSpPr txBox="1"/>
          <p:nvPr/>
        </p:nvSpPr>
        <p:spPr>
          <a:xfrm>
            <a:off x="4844981" y="2286915"/>
            <a:ext cx="9143640" cy="1168791"/>
          </a:xfrm>
          <a:prstGeom prst="rect">
            <a:avLst/>
          </a:prstGeom>
        </p:spPr>
        <p:txBody>
          <a:bodyPr lIns="0" tIns="0" rIns="0" bIns="0" rtlCol="0" anchor="t">
            <a:spAutoFit/>
          </a:bodyPr>
          <a:lstStyle/>
          <a:p>
            <a:pPr algn="ctr">
              <a:lnSpc>
                <a:spcPts val="8919"/>
              </a:lnSpc>
              <a:spcBef>
                <a:spcPct val="0"/>
              </a:spcBef>
            </a:pPr>
            <a:r>
              <a:rPr lang="en-US" sz="8414">
                <a:solidFill>
                  <a:srgbClr val="FFFFFF"/>
                </a:solidFill>
                <a:latin typeface="Anton"/>
                <a:ea typeface="Anton"/>
                <a:cs typeface="Anton"/>
                <a:sym typeface="Anton"/>
              </a:rPr>
              <a:t>DATA SCOPE</a:t>
            </a:r>
          </a:p>
        </p:txBody>
      </p:sp>
      <p:grpSp>
        <p:nvGrpSpPr>
          <p:cNvPr id="11" name="Group 11"/>
          <p:cNvGrpSpPr/>
          <p:nvPr/>
        </p:nvGrpSpPr>
        <p:grpSpPr>
          <a:xfrm>
            <a:off x="4424586" y="3844485"/>
            <a:ext cx="8644083" cy="5413815"/>
            <a:chOff x="0" y="0"/>
            <a:chExt cx="2669671" cy="1672023"/>
          </a:xfrm>
        </p:grpSpPr>
        <p:sp>
          <p:nvSpPr>
            <p:cNvPr id="12" name="Freeform 12"/>
            <p:cNvSpPr/>
            <p:nvPr/>
          </p:nvSpPr>
          <p:spPr>
            <a:xfrm>
              <a:off x="0" y="0"/>
              <a:ext cx="2669671" cy="1672023"/>
            </a:xfrm>
            <a:custGeom>
              <a:avLst/>
              <a:gdLst/>
              <a:ahLst/>
              <a:cxnLst/>
              <a:rect l="l" t="t" r="r" b="b"/>
              <a:pathLst>
                <a:path w="2669671" h="1672023">
                  <a:moveTo>
                    <a:pt x="0" y="0"/>
                  </a:moveTo>
                  <a:lnTo>
                    <a:pt x="2669671" y="0"/>
                  </a:lnTo>
                  <a:lnTo>
                    <a:pt x="2669671" y="1672023"/>
                  </a:lnTo>
                  <a:lnTo>
                    <a:pt x="0" y="167202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13" name="TextBox 13"/>
            <p:cNvSpPr txBox="1"/>
            <p:nvPr/>
          </p:nvSpPr>
          <p:spPr>
            <a:xfrm>
              <a:off x="0" y="38100"/>
              <a:ext cx="2669671" cy="1633923"/>
            </a:xfrm>
            <a:prstGeom prst="rect">
              <a:avLst/>
            </a:prstGeom>
          </p:spPr>
          <p:txBody>
            <a:bodyPr lIns="50800" tIns="50800" rIns="50800" bIns="50800" rtlCol="0" anchor="ctr"/>
            <a:lstStyle/>
            <a:p>
              <a:pPr algn="ctr">
                <a:lnSpc>
                  <a:spcPts val="2473"/>
                </a:lnSpc>
              </a:pPr>
              <a:endParaRPr/>
            </a:p>
          </p:txBody>
        </p:sp>
      </p:grpSp>
      <p:sp>
        <p:nvSpPr>
          <p:cNvPr id="14" name="Freeform 14"/>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3"/>
            <a:stretch>
              <a:fillRect/>
            </a:stretch>
          </a:blipFill>
        </p:spPr>
        <p:txBody>
          <a:bodyPr/>
          <a:lstStyle/>
          <a:p>
            <a:endParaRPr lang="ar-EG"/>
          </a:p>
        </p:txBody>
      </p:sp>
      <p:sp>
        <p:nvSpPr>
          <p:cNvPr id="15" name="Freeform 15"/>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4"/>
            <a:stretch>
              <a:fillRect r="-2988"/>
            </a:stretch>
          </a:blipFill>
        </p:spPr>
        <p:txBody>
          <a:bodyPr/>
          <a:lstStyle/>
          <a:p>
            <a:endParaRPr lang="ar-EG"/>
          </a:p>
        </p:txBody>
      </p:sp>
      <p:sp>
        <p:nvSpPr>
          <p:cNvPr id="16" name="Freeform 16"/>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17" name="TextBox 17"/>
          <p:cNvSpPr txBox="1"/>
          <p:nvPr/>
        </p:nvSpPr>
        <p:spPr>
          <a:xfrm>
            <a:off x="4844981" y="4147199"/>
            <a:ext cx="6335571" cy="4466698"/>
          </a:xfrm>
          <a:prstGeom prst="rect">
            <a:avLst/>
          </a:prstGeom>
        </p:spPr>
        <p:txBody>
          <a:bodyPr lIns="0" tIns="0" rIns="0" bIns="0" rtlCol="0" anchor="t">
            <a:spAutoFit/>
          </a:bodyPr>
          <a:lstStyle/>
          <a:p>
            <a:pPr algn="l">
              <a:lnSpc>
                <a:spcPts val="3943"/>
              </a:lnSpc>
              <a:spcBef>
                <a:spcPct val="0"/>
              </a:spcBef>
            </a:pPr>
            <a:r>
              <a:rPr lang="en-US" sz="3720" b="1">
                <a:solidFill>
                  <a:srgbClr val="FFFFFF"/>
                </a:solidFill>
                <a:latin typeface="TT Lakes Neue Bold"/>
                <a:ea typeface="TT Lakes Neue Bold"/>
                <a:cs typeface="TT Lakes Neue Bold"/>
                <a:sym typeface="TT Lakes Neue Bold"/>
              </a:rPr>
              <a:t>"The analysis is based on cybersecurity event data containing attack types, protocols, ports, timestamps, geographic locations, severity levels, anomaly scores, and defensive response actions."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6" name="TextBox 6"/>
          <p:cNvSpPr txBox="1"/>
          <p:nvPr/>
        </p:nvSpPr>
        <p:spPr>
          <a:xfrm>
            <a:off x="7261469" y="2675105"/>
            <a:ext cx="10156673" cy="2302800"/>
          </a:xfrm>
          <a:prstGeom prst="rect">
            <a:avLst/>
          </a:prstGeom>
        </p:spPr>
        <p:txBody>
          <a:bodyPr lIns="0" tIns="0" rIns="0" bIns="0" rtlCol="0" anchor="t">
            <a:spAutoFit/>
          </a:bodyPr>
          <a:lstStyle/>
          <a:p>
            <a:pPr algn="l">
              <a:lnSpc>
                <a:spcPts val="8919"/>
              </a:lnSpc>
            </a:pPr>
            <a:r>
              <a:rPr lang="en-US" sz="8414">
                <a:solidFill>
                  <a:srgbClr val="FFFFFF"/>
                </a:solidFill>
                <a:latin typeface="Anton"/>
                <a:ea typeface="Anton"/>
                <a:cs typeface="Anton"/>
                <a:sym typeface="Anton"/>
              </a:rPr>
              <a:t>🎯 PROJECT OBJECTIVE</a:t>
            </a:r>
          </a:p>
          <a:p>
            <a:pPr algn="l">
              <a:lnSpc>
                <a:spcPts val="8919"/>
              </a:lnSpc>
              <a:spcBef>
                <a:spcPct val="0"/>
              </a:spcBef>
            </a:pPr>
            <a:endParaRPr lang="en-US" sz="8414">
              <a:solidFill>
                <a:srgbClr val="FFFFFF"/>
              </a:solidFill>
              <a:latin typeface="Anton"/>
              <a:ea typeface="Anton"/>
              <a:cs typeface="Anton"/>
              <a:sym typeface="Anton"/>
            </a:endParaRPr>
          </a:p>
        </p:txBody>
      </p:sp>
      <p:grpSp>
        <p:nvGrpSpPr>
          <p:cNvPr id="7" name="Group 7"/>
          <p:cNvGrpSpPr/>
          <p:nvPr/>
        </p:nvGrpSpPr>
        <p:grpSpPr>
          <a:xfrm>
            <a:off x="-11996079" y="2334540"/>
            <a:ext cx="21757266" cy="7076160"/>
            <a:chOff x="0" y="0"/>
            <a:chExt cx="5730309" cy="1863680"/>
          </a:xfrm>
        </p:grpSpPr>
        <p:sp>
          <p:nvSpPr>
            <p:cNvPr id="8" name="Freeform 8"/>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9" name="TextBox 9"/>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sp>
        <p:nvSpPr>
          <p:cNvPr id="10" name="TextBox 10"/>
          <p:cNvSpPr txBox="1"/>
          <p:nvPr/>
        </p:nvSpPr>
        <p:spPr>
          <a:xfrm>
            <a:off x="8534890" y="4036117"/>
            <a:ext cx="7053133" cy="5222183"/>
          </a:xfrm>
          <a:prstGeom prst="rect">
            <a:avLst/>
          </a:prstGeom>
        </p:spPr>
        <p:txBody>
          <a:bodyPr lIns="0" tIns="0" rIns="0" bIns="0" rtlCol="0" anchor="t">
            <a:spAutoFit/>
          </a:bodyPr>
          <a:lstStyle/>
          <a:p>
            <a:pPr algn="l">
              <a:lnSpc>
                <a:spcPts val="3217"/>
              </a:lnSpc>
            </a:pPr>
            <a:r>
              <a:rPr lang="en-US" sz="2298">
                <a:solidFill>
                  <a:srgbClr val="FFFFFF"/>
                </a:solidFill>
                <a:latin typeface="Raleway"/>
                <a:ea typeface="Raleway"/>
                <a:cs typeface="Raleway"/>
                <a:sym typeface="Raleway"/>
              </a:rPr>
              <a:t>🔹</a:t>
            </a:r>
            <a:r>
              <a:rPr lang="en-US" sz="2298" b="1">
                <a:solidFill>
                  <a:srgbClr val="FFFFFF"/>
                </a:solidFill>
                <a:latin typeface="Raleway Bold"/>
                <a:ea typeface="Raleway Bold"/>
                <a:cs typeface="Raleway Bold"/>
                <a:sym typeface="Raleway Bold"/>
              </a:rPr>
              <a:t> Analyze LAN attack data to identify major cyber threat patterns and suspicious network behavior.</a:t>
            </a:r>
          </a:p>
          <a:p>
            <a:pPr algn="l">
              <a:lnSpc>
                <a:spcPts val="3217"/>
              </a:lnSpc>
            </a:pPr>
            <a:r>
              <a:rPr lang="en-US" sz="2298" b="1">
                <a:solidFill>
                  <a:srgbClr val="FFFFFF"/>
                </a:solidFill>
                <a:latin typeface="Raleway Bold"/>
                <a:ea typeface="Raleway Bold"/>
                <a:cs typeface="Raleway Bold"/>
                <a:sym typeface="Raleway Bold"/>
              </a:rPr>
              <a:t>🔹 Understand when, where, and how attacks occur across the network environment.</a:t>
            </a:r>
          </a:p>
          <a:p>
            <a:pPr algn="l">
              <a:lnSpc>
                <a:spcPts val="3217"/>
              </a:lnSpc>
            </a:pPr>
            <a:r>
              <a:rPr lang="en-US" sz="2298" b="1">
                <a:solidFill>
                  <a:srgbClr val="FFFFFF"/>
                </a:solidFill>
                <a:latin typeface="Raleway Bold"/>
                <a:ea typeface="Raleway Bold"/>
                <a:cs typeface="Raleway Bold"/>
                <a:sym typeface="Raleway Bold"/>
              </a:rPr>
              <a:t>🔹 Evaluate the effectiveness of Firewall and IPS systems in detecting and blocking threats.</a:t>
            </a:r>
          </a:p>
          <a:p>
            <a:pPr algn="l">
              <a:lnSpc>
                <a:spcPts val="3217"/>
              </a:lnSpc>
            </a:pPr>
            <a:r>
              <a:rPr lang="en-US" sz="2298" b="1">
                <a:solidFill>
                  <a:srgbClr val="FFFFFF"/>
                </a:solidFill>
                <a:latin typeface="Raleway Bold"/>
                <a:ea typeface="Raleway Bold"/>
                <a:cs typeface="Raleway Bold"/>
                <a:sym typeface="Raleway Bold"/>
              </a:rPr>
              <a:t>🔹 Identify high-risk attack types, targeted services, and vulnerable network areas.</a:t>
            </a:r>
          </a:p>
          <a:p>
            <a:pPr algn="l">
              <a:lnSpc>
                <a:spcPts val="3217"/>
              </a:lnSpc>
            </a:pPr>
            <a:r>
              <a:rPr lang="en-US" sz="2298" b="1">
                <a:solidFill>
                  <a:srgbClr val="FFFFFF"/>
                </a:solidFill>
                <a:latin typeface="Raleway Bold"/>
                <a:ea typeface="Raleway Bold"/>
                <a:cs typeface="Raleway Bold"/>
                <a:sym typeface="Raleway Bold"/>
              </a:rPr>
              <a:t>🔹 Generate actionable insights and recommendations to improve cybersecurity monitoring and defense strategies.</a:t>
            </a:r>
          </a:p>
          <a:p>
            <a:pPr algn="l">
              <a:lnSpc>
                <a:spcPts val="3217"/>
              </a:lnSpc>
              <a:spcBef>
                <a:spcPct val="0"/>
              </a:spcBef>
            </a:pPr>
            <a:endParaRPr lang="en-US" sz="2298" b="1">
              <a:solidFill>
                <a:srgbClr val="FFFFFF"/>
              </a:solidFill>
              <a:latin typeface="Raleway Bold"/>
              <a:ea typeface="Raleway Bold"/>
              <a:cs typeface="Raleway Bold"/>
              <a:sym typeface="Raleway Bold"/>
            </a:endParaRPr>
          </a:p>
        </p:txBody>
      </p:sp>
      <p:grpSp>
        <p:nvGrpSpPr>
          <p:cNvPr id="11" name="Group 11"/>
          <p:cNvGrpSpPr/>
          <p:nvPr/>
        </p:nvGrpSpPr>
        <p:grpSpPr>
          <a:xfrm>
            <a:off x="1628571" y="2423311"/>
            <a:ext cx="4824057" cy="6593819"/>
            <a:chOff x="0" y="0"/>
            <a:chExt cx="1489880" cy="2036459"/>
          </a:xfrm>
        </p:grpSpPr>
        <p:sp>
          <p:nvSpPr>
            <p:cNvPr id="12" name="Freeform 12"/>
            <p:cNvSpPr/>
            <p:nvPr/>
          </p:nvSpPr>
          <p:spPr>
            <a:xfrm>
              <a:off x="0" y="0"/>
              <a:ext cx="1489880" cy="2036459"/>
            </a:xfrm>
            <a:custGeom>
              <a:avLst/>
              <a:gdLst/>
              <a:ahLst/>
              <a:cxnLst/>
              <a:rect l="l" t="t" r="r" b="b"/>
              <a:pathLst>
                <a:path w="1489880" h="2036459">
                  <a:moveTo>
                    <a:pt x="0" y="0"/>
                  </a:moveTo>
                  <a:lnTo>
                    <a:pt x="1489880" y="0"/>
                  </a:lnTo>
                  <a:lnTo>
                    <a:pt x="1489880" y="2036459"/>
                  </a:lnTo>
                  <a:lnTo>
                    <a:pt x="0" y="2036459"/>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13" name="TextBox 13"/>
            <p:cNvSpPr txBox="1"/>
            <p:nvPr/>
          </p:nvSpPr>
          <p:spPr>
            <a:xfrm>
              <a:off x="0" y="38100"/>
              <a:ext cx="1489880" cy="1998359"/>
            </a:xfrm>
            <a:prstGeom prst="rect">
              <a:avLst/>
            </a:prstGeom>
          </p:spPr>
          <p:txBody>
            <a:bodyPr lIns="50800" tIns="50800" rIns="50800" bIns="50800" rtlCol="0" anchor="ctr"/>
            <a:lstStyle/>
            <a:p>
              <a:pPr algn="ctr">
                <a:lnSpc>
                  <a:spcPts val="2473"/>
                </a:lnSpc>
              </a:pPr>
              <a:endParaRPr/>
            </a:p>
          </p:txBody>
        </p:sp>
      </p:grpSp>
      <p:sp>
        <p:nvSpPr>
          <p:cNvPr id="14" name="Freeform 14"/>
          <p:cNvSpPr/>
          <p:nvPr/>
        </p:nvSpPr>
        <p:spPr>
          <a:xfrm>
            <a:off x="2192753" y="366282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15" name="TextBox 15"/>
          <p:cNvSpPr txBox="1"/>
          <p:nvPr/>
        </p:nvSpPr>
        <p:spPr>
          <a:xfrm>
            <a:off x="16656616" y="9872467"/>
            <a:ext cx="1316589"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4</a:t>
            </a:r>
          </a:p>
        </p:txBody>
      </p:sp>
      <p:sp>
        <p:nvSpPr>
          <p:cNvPr id="16" name="Freeform 16"/>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4"/>
            <a:stretch>
              <a:fillRect/>
            </a:stretch>
          </a:blipFill>
        </p:spPr>
        <p:txBody>
          <a:bodyPr/>
          <a:lstStyle/>
          <a:p>
            <a:endParaRPr lang="ar-EG"/>
          </a:p>
        </p:txBody>
      </p:sp>
      <p:sp>
        <p:nvSpPr>
          <p:cNvPr id="17" name="Freeform 17"/>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5"/>
            <a:stretch>
              <a:fillRect r="-2988"/>
            </a:stretch>
          </a:blipFill>
        </p:spPr>
        <p:txBody>
          <a:bodyPr/>
          <a:lstStyle/>
          <a:p>
            <a:endParaRPr lang="ar-EG"/>
          </a:p>
        </p:txBody>
      </p:sp>
      <p:sp>
        <p:nvSpPr>
          <p:cNvPr id="18" name="Freeform 18"/>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11996079" y="2182140"/>
            <a:ext cx="18387059" cy="3515099"/>
            <a:chOff x="0" y="0"/>
            <a:chExt cx="4842682" cy="925787"/>
          </a:xfrm>
        </p:grpSpPr>
        <p:sp>
          <p:nvSpPr>
            <p:cNvPr id="7" name="Freeform 7"/>
            <p:cNvSpPr/>
            <p:nvPr/>
          </p:nvSpPr>
          <p:spPr>
            <a:xfrm>
              <a:off x="0" y="0"/>
              <a:ext cx="4842682" cy="925787"/>
            </a:xfrm>
            <a:custGeom>
              <a:avLst/>
              <a:gdLst/>
              <a:ahLst/>
              <a:cxnLst/>
              <a:rect l="l" t="t" r="r" b="b"/>
              <a:pathLst>
                <a:path w="4842682" h="925787">
                  <a:moveTo>
                    <a:pt x="0" y="0"/>
                  </a:moveTo>
                  <a:lnTo>
                    <a:pt x="4842682" y="0"/>
                  </a:lnTo>
                  <a:lnTo>
                    <a:pt x="4842682" y="925787"/>
                  </a:lnTo>
                  <a:lnTo>
                    <a:pt x="0" y="925787"/>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8" name="TextBox 8"/>
            <p:cNvSpPr txBox="1"/>
            <p:nvPr/>
          </p:nvSpPr>
          <p:spPr>
            <a:xfrm>
              <a:off x="0" y="38100"/>
              <a:ext cx="4842682" cy="887687"/>
            </a:xfrm>
            <a:prstGeom prst="rect">
              <a:avLst/>
            </a:prstGeom>
          </p:spPr>
          <p:txBody>
            <a:bodyPr lIns="50800" tIns="50800" rIns="50800" bIns="50800" rtlCol="0" anchor="ctr"/>
            <a:lstStyle/>
            <a:p>
              <a:pPr algn="ctr">
                <a:lnSpc>
                  <a:spcPts val="2473"/>
                </a:lnSpc>
              </a:pPr>
              <a:endParaRPr/>
            </a:p>
          </p:txBody>
        </p:sp>
      </p:grpSp>
      <p:grpSp>
        <p:nvGrpSpPr>
          <p:cNvPr id="9" name="Group 9"/>
          <p:cNvGrpSpPr/>
          <p:nvPr/>
        </p:nvGrpSpPr>
        <p:grpSpPr>
          <a:xfrm>
            <a:off x="9468359" y="7934858"/>
            <a:ext cx="2468532" cy="313375"/>
            <a:chOff x="0" y="0"/>
            <a:chExt cx="650148" cy="82535"/>
          </a:xfrm>
        </p:grpSpPr>
        <p:sp>
          <p:nvSpPr>
            <p:cNvPr id="10" name="Freeform 10"/>
            <p:cNvSpPr/>
            <p:nvPr/>
          </p:nvSpPr>
          <p:spPr>
            <a:xfrm>
              <a:off x="0" y="0"/>
              <a:ext cx="650148" cy="82535"/>
            </a:xfrm>
            <a:custGeom>
              <a:avLst/>
              <a:gdLst/>
              <a:ahLst/>
              <a:cxnLst/>
              <a:rect l="l" t="t" r="r" b="b"/>
              <a:pathLst>
                <a:path w="650148" h="82535">
                  <a:moveTo>
                    <a:pt x="0" y="0"/>
                  </a:moveTo>
                  <a:lnTo>
                    <a:pt x="650148" y="0"/>
                  </a:lnTo>
                  <a:lnTo>
                    <a:pt x="650148" y="82535"/>
                  </a:lnTo>
                  <a:lnTo>
                    <a:pt x="0" y="82535"/>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11" name="TextBox 11"/>
            <p:cNvSpPr txBox="1"/>
            <p:nvPr/>
          </p:nvSpPr>
          <p:spPr>
            <a:xfrm>
              <a:off x="0" y="38100"/>
              <a:ext cx="650148" cy="44435"/>
            </a:xfrm>
            <a:prstGeom prst="rect">
              <a:avLst/>
            </a:prstGeom>
          </p:spPr>
          <p:txBody>
            <a:bodyPr lIns="50800" tIns="50800" rIns="50800" bIns="50800" rtlCol="0" anchor="ctr"/>
            <a:lstStyle/>
            <a:p>
              <a:pPr algn="ctr">
                <a:lnSpc>
                  <a:spcPts val="2473"/>
                </a:lnSpc>
              </a:pPr>
              <a:endParaRPr/>
            </a:p>
          </p:txBody>
        </p:sp>
      </p:grpSp>
      <p:grpSp>
        <p:nvGrpSpPr>
          <p:cNvPr id="12" name="Group 12"/>
          <p:cNvGrpSpPr/>
          <p:nvPr/>
        </p:nvGrpSpPr>
        <p:grpSpPr>
          <a:xfrm>
            <a:off x="2527250" y="2182140"/>
            <a:ext cx="5213049" cy="6066093"/>
            <a:chOff x="0" y="0"/>
            <a:chExt cx="698500" cy="812800"/>
          </a:xfrm>
        </p:grpSpPr>
        <p:sp>
          <p:nvSpPr>
            <p:cNvPr id="13" name="Freeform 1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3"/>
              <a:stretch>
                <a:fillRect t="-14372" b="-14372"/>
              </a:stretch>
            </a:blipFill>
            <a:ln w="1905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sp>
        <p:nvSpPr>
          <p:cNvPr id="14" name="TextBox 14"/>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5</a:t>
            </a:r>
          </a:p>
        </p:txBody>
      </p:sp>
      <p:sp>
        <p:nvSpPr>
          <p:cNvPr id="15" name="TextBox 15"/>
          <p:cNvSpPr txBox="1"/>
          <p:nvPr/>
        </p:nvSpPr>
        <p:spPr>
          <a:xfrm>
            <a:off x="9468359" y="2286915"/>
            <a:ext cx="7460565" cy="1168791"/>
          </a:xfrm>
          <a:prstGeom prst="rect">
            <a:avLst/>
          </a:prstGeom>
        </p:spPr>
        <p:txBody>
          <a:bodyPr lIns="0" tIns="0" rIns="0" bIns="0" rtlCol="0" anchor="t">
            <a:spAutoFit/>
          </a:bodyPr>
          <a:lstStyle/>
          <a:p>
            <a:pPr algn="l">
              <a:lnSpc>
                <a:spcPts val="8919"/>
              </a:lnSpc>
              <a:spcBef>
                <a:spcPct val="0"/>
              </a:spcBef>
            </a:pPr>
            <a:r>
              <a:rPr lang="en-US" sz="8414">
                <a:solidFill>
                  <a:srgbClr val="FFFFFF"/>
                </a:solidFill>
                <a:latin typeface="Anton"/>
                <a:ea typeface="Anton"/>
                <a:cs typeface="Anton"/>
                <a:sym typeface="Anton"/>
              </a:rPr>
              <a:t>Project Overview</a:t>
            </a:r>
          </a:p>
        </p:txBody>
      </p:sp>
      <p:sp>
        <p:nvSpPr>
          <p:cNvPr id="16" name="TextBox 16"/>
          <p:cNvSpPr txBox="1"/>
          <p:nvPr/>
        </p:nvSpPr>
        <p:spPr>
          <a:xfrm>
            <a:off x="9468359" y="3541989"/>
            <a:ext cx="7790941" cy="4358804"/>
          </a:xfrm>
          <a:prstGeom prst="rect">
            <a:avLst/>
          </a:prstGeom>
        </p:spPr>
        <p:txBody>
          <a:bodyPr lIns="0" tIns="0" rIns="0" bIns="0" rtlCol="0" anchor="t">
            <a:spAutoFit/>
          </a:bodyPr>
          <a:lstStyle/>
          <a:p>
            <a:pPr algn="l">
              <a:lnSpc>
                <a:spcPts val="3875"/>
              </a:lnSpc>
            </a:pPr>
            <a:r>
              <a:rPr lang="en-US" sz="2768" b="1" dirty="0">
                <a:solidFill>
                  <a:srgbClr val="FFFFFF"/>
                </a:solidFill>
                <a:latin typeface="Raleway Bold"/>
                <a:ea typeface="Raleway Bold"/>
                <a:cs typeface="Raleway Bold"/>
                <a:sym typeface="Raleway Bold"/>
              </a:rPr>
              <a:t>This project aims to analyze LAN attack activities in order to identify the most common cyber threats, understand attack behavior patterns, evaluate security response effectiveness, and generate actionable insights to improve network protection and threat monitoring</a:t>
            </a:r>
          </a:p>
          <a:p>
            <a:pPr algn="l">
              <a:lnSpc>
                <a:spcPts val="3875"/>
              </a:lnSpc>
              <a:spcBef>
                <a:spcPct val="0"/>
              </a:spcBef>
            </a:pPr>
            <a:r>
              <a:rPr lang="en-US" sz="2768" b="1" dirty="0">
                <a:solidFill>
                  <a:srgbClr val="FFFFFF"/>
                </a:solidFill>
                <a:latin typeface="Raleway Bold"/>
                <a:ea typeface="Raleway Bold"/>
                <a:cs typeface="Raleway Bold"/>
                <a:sym typeface="Raleway Bold"/>
              </a:rPr>
              <a:t>From (2020-2024).</a:t>
            </a:r>
          </a:p>
          <a:p>
            <a:pPr algn="l">
              <a:lnSpc>
                <a:spcPts val="3875"/>
              </a:lnSpc>
              <a:spcBef>
                <a:spcPct val="0"/>
              </a:spcBef>
            </a:pPr>
            <a:endParaRPr lang="en-US" sz="2768" b="1" dirty="0">
              <a:solidFill>
                <a:srgbClr val="FFFFFF"/>
              </a:solidFill>
              <a:latin typeface="Raleway Bold"/>
              <a:ea typeface="Raleway Bold"/>
              <a:cs typeface="Raleway Bold"/>
              <a:sym typeface="Raleway Bold"/>
            </a:endParaRPr>
          </a:p>
        </p:txBody>
      </p:sp>
      <p:grpSp>
        <p:nvGrpSpPr>
          <p:cNvPr id="17" name="Group 17"/>
          <p:cNvGrpSpPr/>
          <p:nvPr/>
        </p:nvGrpSpPr>
        <p:grpSpPr>
          <a:xfrm>
            <a:off x="1648215" y="2256341"/>
            <a:ext cx="2070093" cy="2408835"/>
            <a:chOff x="0" y="0"/>
            <a:chExt cx="698500" cy="812800"/>
          </a:xfrm>
        </p:grpSpPr>
        <p:sp>
          <p:nvSpPr>
            <p:cNvPr id="18" name="Freeform 18"/>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4"/>
              <a:stretch>
                <a:fillRect l="-25826" r="-81041"/>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sp>
        <p:nvSpPr>
          <p:cNvPr id="19" name="Freeform 19"/>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5"/>
            <a:stretch>
              <a:fillRect/>
            </a:stretch>
          </a:blipFill>
        </p:spPr>
        <p:txBody>
          <a:bodyPr/>
          <a:lstStyle/>
          <a:p>
            <a:endParaRPr lang="ar-EG"/>
          </a:p>
        </p:txBody>
      </p:sp>
      <p:sp>
        <p:nvSpPr>
          <p:cNvPr id="20" name="Freeform 20"/>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6"/>
            <a:stretch>
              <a:fillRect r="-2988"/>
            </a:stretch>
          </a:blipFill>
        </p:spPr>
        <p:txBody>
          <a:bodyPr/>
          <a:lstStyle/>
          <a:p>
            <a:endParaRPr lang="ar-EG"/>
          </a:p>
        </p:txBody>
      </p:sp>
      <p:sp>
        <p:nvSpPr>
          <p:cNvPr id="21" name="Freeform 21"/>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ar-EG"/>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7671729" y="2004339"/>
            <a:ext cx="27740609" cy="1629149"/>
            <a:chOff x="0" y="0"/>
            <a:chExt cx="7306169" cy="429076"/>
          </a:xfrm>
        </p:grpSpPr>
        <p:sp>
          <p:nvSpPr>
            <p:cNvPr id="7" name="Freeform 7"/>
            <p:cNvSpPr/>
            <p:nvPr/>
          </p:nvSpPr>
          <p:spPr>
            <a:xfrm>
              <a:off x="0" y="0"/>
              <a:ext cx="7306169" cy="429076"/>
            </a:xfrm>
            <a:custGeom>
              <a:avLst/>
              <a:gdLst/>
              <a:ahLst/>
              <a:cxnLst/>
              <a:rect l="l" t="t" r="r" b="b"/>
              <a:pathLst>
                <a:path w="7306169" h="429076">
                  <a:moveTo>
                    <a:pt x="0" y="0"/>
                  </a:moveTo>
                  <a:lnTo>
                    <a:pt x="7306169" y="0"/>
                  </a:lnTo>
                  <a:lnTo>
                    <a:pt x="7306169" y="429076"/>
                  </a:lnTo>
                  <a:lnTo>
                    <a:pt x="0" y="429076"/>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8" name="TextBox 8"/>
            <p:cNvSpPr txBox="1"/>
            <p:nvPr/>
          </p:nvSpPr>
          <p:spPr>
            <a:xfrm>
              <a:off x="0" y="38100"/>
              <a:ext cx="7306169" cy="390976"/>
            </a:xfrm>
            <a:prstGeom prst="rect">
              <a:avLst/>
            </a:prstGeom>
          </p:spPr>
          <p:txBody>
            <a:bodyPr lIns="50800" tIns="50800" rIns="50800" bIns="50800" rtlCol="0" anchor="ctr"/>
            <a:lstStyle/>
            <a:p>
              <a:pPr algn="ctr">
                <a:lnSpc>
                  <a:spcPts val="2473"/>
                </a:lnSpc>
              </a:pPr>
              <a:endParaRPr/>
            </a:p>
          </p:txBody>
        </p:sp>
      </p:grpSp>
      <p:sp>
        <p:nvSpPr>
          <p:cNvPr id="9" name="TextBox 9"/>
          <p:cNvSpPr txBox="1"/>
          <p:nvPr/>
        </p:nvSpPr>
        <p:spPr>
          <a:xfrm>
            <a:off x="4844981" y="2286915"/>
            <a:ext cx="9143640" cy="1168791"/>
          </a:xfrm>
          <a:prstGeom prst="rect">
            <a:avLst/>
          </a:prstGeom>
        </p:spPr>
        <p:txBody>
          <a:bodyPr lIns="0" tIns="0" rIns="0" bIns="0" rtlCol="0" anchor="t">
            <a:spAutoFit/>
          </a:bodyPr>
          <a:lstStyle/>
          <a:p>
            <a:pPr algn="ctr">
              <a:lnSpc>
                <a:spcPts val="8919"/>
              </a:lnSpc>
              <a:spcBef>
                <a:spcPct val="0"/>
              </a:spcBef>
            </a:pPr>
            <a:r>
              <a:rPr lang="en-US" sz="8414">
                <a:solidFill>
                  <a:srgbClr val="FFFFFF"/>
                </a:solidFill>
                <a:latin typeface="Anton"/>
                <a:ea typeface="Anton"/>
                <a:cs typeface="Anton"/>
                <a:sym typeface="Anton"/>
              </a:rPr>
              <a:t>EXECUTIVE OVERVIEW</a:t>
            </a:r>
          </a:p>
        </p:txBody>
      </p:sp>
      <p:grpSp>
        <p:nvGrpSpPr>
          <p:cNvPr id="10" name="Group 10"/>
          <p:cNvGrpSpPr/>
          <p:nvPr/>
        </p:nvGrpSpPr>
        <p:grpSpPr>
          <a:xfrm>
            <a:off x="9144000" y="3765074"/>
            <a:ext cx="2244958" cy="1734228"/>
            <a:chOff x="0" y="0"/>
            <a:chExt cx="579487" cy="447653"/>
          </a:xfrm>
        </p:grpSpPr>
        <p:sp>
          <p:nvSpPr>
            <p:cNvPr id="11" name="Freeform 11"/>
            <p:cNvSpPr/>
            <p:nvPr/>
          </p:nvSpPr>
          <p:spPr>
            <a:xfrm>
              <a:off x="0" y="0"/>
              <a:ext cx="579487" cy="447653"/>
            </a:xfrm>
            <a:custGeom>
              <a:avLst/>
              <a:gdLst/>
              <a:ahLst/>
              <a:cxnLst/>
              <a:rect l="l" t="t" r="r" b="b"/>
              <a:pathLst>
                <a:path w="579487" h="447653">
                  <a:moveTo>
                    <a:pt x="0" y="0"/>
                  </a:moveTo>
                  <a:lnTo>
                    <a:pt x="579487" y="0"/>
                  </a:lnTo>
                  <a:lnTo>
                    <a:pt x="579487" y="447653"/>
                  </a:lnTo>
                  <a:lnTo>
                    <a:pt x="0" y="447653"/>
                  </a:lnTo>
                  <a:close/>
                </a:path>
              </a:pathLst>
            </a:custGeom>
            <a:blipFill>
              <a:blip r:embed="rId3"/>
              <a:stretch>
                <a:fillRect t="-2319" b="-2319"/>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sp>
        <p:nvSpPr>
          <p:cNvPr id="12" name="Freeform 12"/>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4"/>
            <a:stretch>
              <a:fillRect/>
            </a:stretch>
          </a:blipFill>
        </p:spPr>
        <p:txBody>
          <a:bodyPr/>
          <a:lstStyle/>
          <a:p>
            <a:endParaRPr lang="ar-EG"/>
          </a:p>
        </p:txBody>
      </p:sp>
      <p:sp>
        <p:nvSpPr>
          <p:cNvPr id="13" name="Freeform 13"/>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5"/>
            <a:stretch>
              <a:fillRect r="-2988"/>
            </a:stretch>
          </a:blipFill>
        </p:spPr>
        <p:txBody>
          <a:bodyPr/>
          <a:lstStyle/>
          <a:p>
            <a:endParaRPr lang="ar-EG"/>
          </a:p>
        </p:txBody>
      </p:sp>
      <p:sp>
        <p:nvSpPr>
          <p:cNvPr id="14" name="Freeform 14"/>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grpSp>
        <p:nvGrpSpPr>
          <p:cNvPr id="15" name="Group 15"/>
          <p:cNvGrpSpPr/>
          <p:nvPr/>
        </p:nvGrpSpPr>
        <p:grpSpPr>
          <a:xfrm>
            <a:off x="12337776" y="3765074"/>
            <a:ext cx="2214646" cy="1734228"/>
            <a:chOff x="0" y="0"/>
            <a:chExt cx="579487" cy="453780"/>
          </a:xfrm>
        </p:grpSpPr>
        <p:sp>
          <p:nvSpPr>
            <p:cNvPr id="16" name="Freeform 16"/>
            <p:cNvSpPr/>
            <p:nvPr/>
          </p:nvSpPr>
          <p:spPr>
            <a:xfrm>
              <a:off x="0" y="0"/>
              <a:ext cx="579487" cy="453780"/>
            </a:xfrm>
            <a:custGeom>
              <a:avLst/>
              <a:gdLst/>
              <a:ahLst/>
              <a:cxnLst/>
              <a:rect l="l" t="t" r="r" b="b"/>
              <a:pathLst>
                <a:path w="579487" h="453780">
                  <a:moveTo>
                    <a:pt x="0" y="0"/>
                  </a:moveTo>
                  <a:lnTo>
                    <a:pt x="579487" y="0"/>
                  </a:lnTo>
                  <a:lnTo>
                    <a:pt x="579487" y="453780"/>
                  </a:lnTo>
                  <a:lnTo>
                    <a:pt x="0" y="453780"/>
                  </a:lnTo>
                  <a:close/>
                </a:path>
              </a:pathLst>
            </a:custGeom>
            <a:blipFill>
              <a:blip r:embed="rId7"/>
              <a:stretch>
                <a:fillRect l="-6427" r="-6427"/>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grpSp>
        <p:nvGrpSpPr>
          <p:cNvPr id="17" name="Group 17"/>
          <p:cNvGrpSpPr/>
          <p:nvPr/>
        </p:nvGrpSpPr>
        <p:grpSpPr>
          <a:xfrm>
            <a:off x="15477529" y="3765074"/>
            <a:ext cx="2358175" cy="1734228"/>
            <a:chOff x="0" y="0"/>
            <a:chExt cx="622026" cy="457444"/>
          </a:xfrm>
        </p:grpSpPr>
        <p:sp>
          <p:nvSpPr>
            <p:cNvPr id="18" name="Freeform 18"/>
            <p:cNvSpPr/>
            <p:nvPr/>
          </p:nvSpPr>
          <p:spPr>
            <a:xfrm>
              <a:off x="0" y="0"/>
              <a:ext cx="622026" cy="457445"/>
            </a:xfrm>
            <a:custGeom>
              <a:avLst/>
              <a:gdLst/>
              <a:ahLst/>
              <a:cxnLst/>
              <a:rect l="l" t="t" r="r" b="b"/>
              <a:pathLst>
                <a:path w="622026" h="457445">
                  <a:moveTo>
                    <a:pt x="0" y="0"/>
                  </a:moveTo>
                  <a:lnTo>
                    <a:pt x="622026" y="0"/>
                  </a:lnTo>
                  <a:lnTo>
                    <a:pt x="622026" y="457445"/>
                  </a:lnTo>
                  <a:lnTo>
                    <a:pt x="0" y="457445"/>
                  </a:lnTo>
                  <a:close/>
                </a:path>
              </a:pathLst>
            </a:custGeom>
            <a:blipFill>
              <a:blip r:embed="rId8"/>
              <a:stretch>
                <a:fillRect t="-491" b="-491"/>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grpSp>
        <p:nvGrpSpPr>
          <p:cNvPr id="19" name="Group 19"/>
          <p:cNvGrpSpPr/>
          <p:nvPr/>
        </p:nvGrpSpPr>
        <p:grpSpPr>
          <a:xfrm>
            <a:off x="9106552" y="5919445"/>
            <a:ext cx="7948493" cy="3696390"/>
            <a:chOff x="0" y="0"/>
            <a:chExt cx="975781" cy="453780"/>
          </a:xfrm>
        </p:grpSpPr>
        <p:sp>
          <p:nvSpPr>
            <p:cNvPr id="20" name="Freeform 20"/>
            <p:cNvSpPr/>
            <p:nvPr/>
          </p:nvSpPr>
          <p:spPr>
            <a:xfrm>
              <a:off x="0" y="0"/>
              <a:ext cx="975781" cy="453780"/>
            </a:xfrm>
            <a:custGeom>
              <a:avLst/>
              <a:gdLst/>
              <a:ahLst/>
              <a:cxnLst/>
              <a:rect l="l" t="t" r="r" b="b"/>
              <a:pathLst>
                <a:path w="975781" h="453780">
                  <a:moveTo>
                    <a:pt x="0" y="0"/>
                  </a:moveTo>
                  <a:lnTo>
                    <a:pt x="975781" y="0"/>
                  </a:lnTo>
                  <a:lnTo>
                    <a:pt x="975781" y="453780"/>
                  </a:lnTo>
                  <a:lnTo>
                    <a:pt x="0" y="453780"/>
                  </a:lnTo>
                  <a:close/>
                </a:path>
              </a:pathLst>
            </a:custGeom>
            <a:blipFill>
              <a:blip r:embed="rId9"/>
              <a:stretch>
                <a:fillRect l="-4335" r="-4335"/>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sp>
        <p:nvSpPr>
          <p:cNvPr id="21" name="TextBox 21"/>
          <p:cNvSpPr txBox="1"/>
          <p:nvPr/>
        </p:nvSpPr>
        <p:spPr>
          <a:xfrm>
            <a:off x="16656616" y="9872467"/>
            <a:ext cx="1205367" cy="192970"/>
          </a:xfrm>
          <a:prstGeom prst="rect">
            <a:avLst/>
          </a:prstGeom>
        </p:spPr>
        <p:txBody>
          <a:bodyPr lIns="0" tIns="0" rIns="0" bIns="0" rtlCol="0" anchor="t">
            <a:spAutoFit/>
          </a:bodyPr>
          <a:lstStyle/>
          <a:p>
            <a:pPr algn="ctr">
              <a:lnSpc>
                <a:spcPts val="1551"/>
              </a:lnSpc>
              <a:spcBef>
                <a:spcPct val="0"/>
              </a:spcBef>
            </a:pPr>
            <a:r>
              <a:rPr lang="en-US" sz="1463" b="1" spc="379">
                <a:solidFill>
                  <a:srgbClr val="FFFFFF"/>
                </a:solidFill>
                <a:latin typeface="TT Lakes Neue Bold"/>
                <a:ea typeface="TT Lakes Neue Bold"/>
                <a:cs typeface="TT Lakes Neue Bold"/>
                <a:sym typeface="TT Lakes Neue Bold"/>
              </a:rPr>
              <a:t>PAGE 6</a:t>
            </a:r>
          </a:p>
        </p:txBody>
      </p:sp>
      <p:grpSp>
        <p:nvGrpSpPr>
          <p:cNvPr id="22" name="Group 22"/>
          <p:cNvGrpSpPr/>
          <p:nvPr/>
        </p:nvGrpSpPr>
        <p:grpSpPr>
          <a:xfrm>
            <a:off x="334533" y="4015030"/>
            <a:ext cx="8675407" cy="5543899"/>
            <a:chOff x="0" y="0"/>
            <a:chExt cx="2284881" cy="1460121"/>
          </a:xfrm>
        </p:grpSpPr>
        <p:sp>
          <p:nvSpPr>
            <p:cNvPr id="23" name="Freeform 23"/>
            <p:cNvSpPr/>
            <p:nvPr/>
          </p:nvSpPr>
          <p:spPr>
            <a:xfrm>
              <a:off x="0" y="0"/>
              <a:ext cx="2284881" cy="1460121"/>
            </a:xfrm>
            <a:custGeom>
              <a:avLst/>
              <a:gdLst/>
              <a:ahLst/>
              <a:cxnLst/>
              <a:rect l="l" t="t" r="r" b="b"/>
              <a:pathLst>
                <a:path w="2284881" h="1460121">
                  <a:moveTo>
                    <a:pt x="0" y="0"/>
                  </a:moveTo>
                  <a:lnTo>
                    <a:pt x="2284881" y="0"/>
                  </a:lnTo>
                  <a:lnTo>
                    <a:pt x="2284881" y="1460121"/>
                  </a:lnTo>
                  <a:lnTo>
                    <a:pt x="0" y="1460121"/>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24" name="TextBox 24"/>
            <p:cNvSpPr txBox="1"/>
            <p:nvPr/>
          </p:nvSpPr>
          <p:spPr>
            <a:xfrm>
              <a:off x="0" y="38100"/>
              <a:ext cx="2284881" cy="1422021"/>
            </a:xfrm>
            <a:prstGeom prst="rect">
              <a:avLst/>
            </a:prstGeom>
          </p:spPr>
          <p:txBody>
            <a:bodyPr lIns="50800" tIns="50800" rIns="50800" bIns="50800" rtlCol="0" anchor="ctr"/>
            <a:lstStyle/>
            <a:p>
              <a:pPr algn="ctr">
                <a:lnSpc>
                  <a:spcPts val="2473"/>
                </a:lnSpc>
              </a:pPr>
              <a:endParaRPr/>
            </a:p>
          </p:txBody>
        </p:sp>
      </p:grpSp>
      <p:sp>
        <p:nvSpPr>
          <p:cNvPr id="25" name="TextBox 25"/>
          <p:cNvSpPr txBox="1"/>
          <p:nvPr/>
        </p:nvSpPr>
        <p:spPr>
          <a:xfrm>
            <a:off x="624680" y="4071909"/>
            <a:ext cx="7368752" cy="5372990"/>
          </a:xfrm>
          <a:prstGeom prst="rect">
            <a:avLst/>
          </a:prstGeom>
        </p:spPr>
        <p:txBody>
          <a:bodyPr lIns="0" tIns="0" rIns="0" bIns="0" rtlCol="0" anchor="t">
            <a:spAutoFit/>
          </a:bodyPr>
          <a:lstStyle/>
          <a:p>
            <a:pPr algn="l">
              <a:lnSpc>
                <a:spcPts val="3322"/>
              </a:lnSpc>
            </a:pPr>
            <a:r>
              <a:rPr lang="en-US" sz="2373" b="1">
                <a:solidFill>
                  <a:srgbClr val="FFFFFF"/>
                </a:solidFill>
                <a:latin typeface="Raleway Bold"/>
                <a:ea typeface="Raleway Bold"/>
                <a:cs typeface="Raleway Bold"/>
                <a:sym typeface="Raleway Bold"/>
              </a:rPr>
              <a:t>The network experienced continuous security activity with over 28K events detected. while most threats were successfully blocked.</a:t>
            </a:r>
          </a:p>
          <a:p>
            <a:pPr algn="l">
              <a:lnSpc>
                <a:spcPts val="3322"/>
              </a:lnSpc>
            </a:pPr>
            <a:r>
              <a:rPr lang="en-US" sz="2373" b="1">
                <a:solidFill>
                  <a:srgbClr val="FFFFFF"/>
                </a:solidFill>
                <a:latin typeface="Raleway Bold"/>
                <a:ea typeface="Raleway Bold"/>
                <a:cs typeface="Raleway Bold"/>
                <a:sym typeface="Raleway Bold"/>
              </a:rPr>
              <a:t>The overall trend remained stable, indicating persistent rather than seasonal threats the cybersecurity activity observed within the network from 2020 to 2024. The chart illustrates the total number of detected attacks</a:t>
            </a:r>
          </a:p>
          <a:p>
            <a:pPr algn="l">
              <a:lnSpc>
                <a:spcPts val="3322"/>
              </a:lnSpc>
            </a:pPr>
            <a:r>
              <a:rPr lang="en-US" sz="2373" b="1">
                <a:solidFill>
                  <a:srgbClr val="FFFFFF"/>
                </a:solidFill>
                <a:latin typeface="Raleway Bold"/>
                <a:ea typeface="Raleway Bold"/>
                <a:cs typeface="Raleway Bold"/>
                <a:sym typeface="Raleway Bold"/>
              </a:rPr>
              <a:t>Overall, the data reflects a persistent and evolving threat landscape, where reconnaissance and early-stage attacks play a major role in shaping subsequent security incidents.</a:t>
            </a:r>
          </a:p>
          <a:p>
            <a:pPr algn="l">
              <a:lnSpc>
                <a:spcPts val="3322"/>
              </a:lnSpc>
              <a:spcBef>
                <a:spcPct val="0"/>
              </a:spcBef>
            </a:pPr>
            <a:endParaRPr lang="en-US" sz="2373" b="1">
              <a:solidFill>
                <a:srgbClr val="FFFFFF"/>
              </a:solidFill>
              <a:latin typeface="Raleway Bold"/>
              <a:ea typeface="Raleway Bold"/>
              <a:cs typeface="Raleway Bold"/>
              <a:sym typeface="Raleway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4900717" y="2259049"/>
            <a:ext cx="23444507" cy="1678443"/>
            <a:chOff x="0" y="0"/>
            <a:chExt cx="6174685" cy="442059"/>
          </a:xfrm>
        </p:grpSpPr>
        <p:sp>
          <p:nvSpPr>
            <p:cNvPr id="7" name="Freeform 7"/>
            <p:cNvSpPr/>
            <p:nvPr/>
          </p:nvSpPr>
          <p:spPr>
            <a:xfrm>
              <a:off x="0" y="0"/>
              <a:ext cx="6174685" cy="442059"/>
            </a:xfrm>
            <a:custGeom>
              <a:avLst/>
              <a:gdLst/>
              <a:ahLst/>
              <a:cxnLst/>
              <a:rect l="l" t="t" r="r" b="b"/>
              <a:pathLst>
                <a:path w="6174685" h="442059">
                  <a:moveTo>
                    <a:pt x="0" y="0"/>
                  </a:moveTo>
                  <a:lnTo>
                    <a:pt x="6174685" y="0"/>
                  </a:lnTo>
                  <a:lnTo>
                    <a:pt x="6174685" y="442059"/>
                  </a:lnTo>
                  <a:lnTo>
                    <a:pt x="0" y="442059"/>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8" name="TextBox 8"/>
            <p:cNvSpPr txBox="1"/>
            <p:nvPr/>
          </p:nvSpPr>
          <p:spPr>
            <a:xfrm>
              <a:off x="0" y="38100"/>
              <a:ext cx="6174685" cy="403959"/>
            </a:xfrm>
            <a:prstGeom prst="rect">
              <a:avLst/>
            </a:prstGeom>
          </p:spPr>
          <p:txBody>
            <a:bodyPr lIns="50800" tIns="50800" rIns="50800" bIns="50800" rtlCol="0" anchor="ctr"/>
            <a:lstStyle/>
            <a:p>
              <a:pPr algn="ctr">
                <a:lnSpc>
                  <a:spcPts val="2473"/>
                </a:lnSpc>
              </a:pPr>
              <a:endParaRPr/>
            </a:p>
          </p:txBody>
        </p:sp>
      </p:grpSp>
      <p:grpSp>
        <p:nvGrpSpPr>
          <p:cNvPr id="9" name="Group 9"/>
          <p:cNvGrpSpPr/>
          <p:nvPr/>
        </p:nvGrpSpPr>
        <p:grpSpPr>
          <a:xfrm>
            <a:off x="334533" y="4529623"/>
            <a:ext cx="8744398" cy="3646778"/>
            <a:chOff x="0" y="0"/>
            <a:chExt cx="2303051" cy="960468"/>
          </a:xfrm>
        </p:grpSpPr>
        <p:sp>
          <p:nvSpPr>
            <p:cNvPr id="10" name="Freeform 10"/>
            <p:cNvSpPr/>
            <p:nvPr/>
          </p:nvSpPr>
          <p:spPr>
            <a:xfrm>
              <a:off x="0" y="0"/>
              <a:ext cx="2303051" cy="960468"/>
            </a:xfrm>
            <a:custGeom>
              <a:avLst/>
              <a:gdLst/>
              <a:ahLst/>
              <a:cxnLst/>
              <a:rect l="l" t="t" r="r" b="b"/>
              <a:pathLst>
                <a:path w="2303051" h="960468">
                  <a:moveTo>
                    <a:pt x="0" y="0"/>
                  </a:moveTo>
                  <a:lnTo>
                    <a:pt x="2303051" y="0"/>
                  </a:lnTo>
                  <a:lnTo>
                    <a:pt x="2303051" y="960468"/>
                  </a:lnTo>
                  <a:lnTo>
                    <a:pt x="0" y="960468"/>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11" name="TextBox 11"/>
            <p:cNvSpPr txBox="1"/>
            <p:nvPr/>
          </p:nvSpPr>
          <p:spPr>
            <a:xfrm>
              <a:off x="0" y="38100"/>
              <a:ext cx="2303051" cy="922368"/>
            </a:xfrm>
            <a:prstGeom prst="rect">
              <a:avLst/>
            </a:prstGeom>
          </p:spPr>
          <p:txBody>
            <a:bodyPr lIns="50800" tIns="50800" rIns="50800" bIns="50800" rtlCol="0" anchor="ctr"/>
            <a:lstStyle/>
            <a:p>
              <a:pPr algn="ctr">
                <a:lnSpc>
                  <a:spcPts val="2473"/>
                </a:lnSpc>
              </a:pPr>
              <a:endParaRPr/>
            </a:p>
          </p:txBody>
        </p:sp>
      </p:grpSp>
      <p:sp>
        <p:nvSpPr>
          <p:cNvPr id="12" name="TextBox 12"/>
          <p:cNvSpPr txBox="1"/>
          <p:nvPr/>
        </p:nvSpPr>
        <p:spPr>
          <a:xfrm>
            <a:off x="5726406" y="2563748"/>
            <a:ext cx="7942440" cy="1173820"/>
          </a:xfrm>
          <a:prstGeom prst="rect">
            <a:avLst/>
          </a:prstGeom>
        </p:spPr>
        <p:txBody>
          <a:bodyPr lIns="0" tIns="0" rIns="0" bIns="0" rtlCol="0" anchor="t">
            <a:spAutoFit/>
          </a:bodyPr>
          <a:lstStyle/>
          <a:p>
            <a:pPr algn="l">
              <a:lnSpc>
                <a:spcPts val="8919"/>
              </a:lnSpc>
              <a:spcBef>
                <a:spcPct val="0"/>
              </a:spcBef>
            </a:pPr>
            <a:r>
              <a:rPr lang="en-US" sz="8414">
                <a:solidFill>
                  <a:srgbClr val="FFFFFF"/>
                </a:solidFill>
                <a:latin typeface="Anton"/>
                <a:ea typeface="Anton"/>
                <a:cs typeface="Anton"/>
                <a:sym typeface="Anton"/>
              </a:rPr>
              <a:t>ATTACK ANALYSIS</a:t>
            </a:r>
          </a:p>
        </p:txBody>
      </p:sp>
      <p:sp>
        <p:nvSpPr>
          <p:cNvPr id="13" name="TextBox 13"/>
          <p:cNvSpPr txBox="1"/>
          <p:nvPr/>
        </p:nvSpPr>
        <p:spPr>
          <a:xfrm>
            <a:off x="624680" y="4956667"/>
            <a:ext cx="7255798" cy="2390013"/>
          </a:xfrm>
          <a:prstGeom prst="rect">
            <a:avLst/>
          </a:prstGeom>
        </p:spPr>
        <p:txBody>
          <a:bodyPr lIns="0" tIns="0" rIns="0" bIns="0" rtlCol="0" anchor="t">
            <a:spAutoFit/>
          </a:bodyPr>
          <a:lstStyle/>
          <a:p>
            <a:pPr algn="l">
              <a:lnSpc>
                <a:spcPts val="3191"/>
              </a:lnSpc>
            </a:pPr>
            <a:r>
              <a:rPr lang="en-US" sz="2279" b="1">
                <a:solidFill>
                  <a:srgbClr val="FFFFFF"/>
                </a:solidFill>
                <a:latin typeface="Raleway Bold"/>
                <a:ea typeface="Raleway Bold"/>
                <a:cs typeface="Raleway Bold"/>
                <a:sym typeface="Raleway Bold"/>
              </a:rPr>
              <a:t>"The threat landscape is heavily concentrated in a few attack families. Port scanning activity appears as the dominant behavior, followed by brute force attempts and DDoS attacks, indicating persistent reconnaissance and intrusion attempts."</a:t>
            </a:r>
          </a:p>
          <a:p>
            <a:pPr algn="l">
              <a:lnSpc>
                <a:spcPts val="3191"/>
              </a:lnSpc>
              <a:spcBef>
                <a:spcPct val="0"/>
              </a:spcBef>
            </a:pPr>
            <a:endParaRPr lang="en-US" sz="2279" b="1">
              <a:solidFill>
                <a:srgbClr val="FFFFFF"/>
              </a:solidFill>
              <a:latin typeface="Raleway Bold"/>
              <a:ea typeface="Raleway Bold"/>
              <a:cs typeface="Raleway Bold"/>
              <a:sym typeface="Raleway Bold"/>
            </a:endParaRPr>
          </a:p>
        </p:txBody>
      </p:sp>
      <p:sp>
        <p:nvSpPr>
          <p:cNvPr id="14" name="Freeform 14"/>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3"/>
            <a:stretch>
              <a:fillRect/>
            </a:stretch>
          </a:blipFill>
        </p:spPr>
        <p:txBody>
          <a:bodyPr/>
          <a:lstStyle/>
          <a:p>
            <a:endParaRPr lang="ar-EG"/>
          </a:p>
        </p:txBody>
      </p:sp>
      <p:sp>
        <p:nvSpPr>
          <p:cNvPr id="15" name="Freeform 15"/>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4"/>
            <a:stretch>
              <a:fillRect r="-2988"/>
            </a:stretch>
          </a:blipFill>
        </p:spPr>
        <p:txBody>
          <a:bodyPr/>
          <a:lstStyle/>
          <a:p>
            <a:endParaRPr lang="ar-EG"/>
          </a:p>
        </p:txBody>
      </p:sp>
      <p:sp>
        <p:nvSpPr>
          <p:cNvPr id="16" name="Freeform 16"/>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7" name="Group 17"/>
          <p:cNvGrpSpPr/>
          <p:nvPr/>
        </p:nvGrpSpPr>
        <p:grpSpPr>
          <a:xfrm>
            <a:off x="9791171" y="4146060"/>
            <a:ext cx="6196857" cy="2742138"/>
            <a:chOff x="0" y="0"/>
            <a:chExt cx="902691" cy="399445"/>
          </a:xfrm>
        </p:grpSpPr>
        <p:sp>
          <p:nvSpPr>
            <p:cNvPr id="18" name="Freeform 18"/>
            <p:cNvSpPr/>
            <p:nvPr/>
          </p:nvSpPr>
          <p:spPr>
            <a:xfrm>
              <a:off x="0" y="0"/>
              <a:ext cx="902691" cy="399445"/>
            </a:xfrm>
            <a:custGeom>
              <a:avLst/>
              <a:gdLst/>
              <a:ahLst/>
              <a:cxnLst/>
              <a:rect l="l" t="t" r="r" b="b"/>
              <a:pathLst>
                <a:path w="902691" h="399445">
                  <a:moveTo>
                    <a:pt x="0" y="0"/>
                  </a:moveTo>
                  <a:lnTo>
                    <a:pt x="902691" y="0"/>
                  </a:lnTo>
                  <a:lnTo>
                    <a:pt x="902691" y="399445"/>
                  </a:lnTo>
                  <a:lnTo>
                    <a:pt x="0" y="399445"/>
                  </a:lnTo>
                  <a:close/>
                </a:path>
              </a:pathLst>
            </a:custGeom>
            <a:blipFill>
              <a:blip r:embed="rId6"/>
              <a:stretch>
                <a:fillRect t="-335" b="-335"/>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sp>
        <p:nvSpPr>
          <p:cNvPr id="19" name="TextBox 19"/>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7</a:t>
            </a:r>
          </a:p>
        </p:txBody>
      </p:sp>
      <p:grpSp>
        <p:nvGrpSpPr>
          <p:cNvPr id="20" name="Group 20"/>
          <p:cNvGrpSpPr/>
          <p:nvPr/>
        </p:nvGrpSpPr>
        <p:grpSpPr>
          <a:xfrm>
            <a:off x="9791171" y="7096766"/>
            <a:ext cx="4902514" cy="3098059"/>
            <a:chOff x="0" y="0"/>
            <a:chExt cx="975781" cy="616628"/>
          </a:xfrm>
        </p:grpSpPr>
        <p:sp>
          <p:nvSpPr>
            <p:cNvPr id="21" name="Freeform 21"/>
            <p:cNvSpPr/>
            <p:nvPr/>
          </p:nvSpPr>
          <p:spPr>
            <a:xfrm>
              <a:off x="0" y="0"/>
              <a:ext cx="975781" cy="616628"/>
            </a:xfrm>
            <a:custGeom>
              <a:avLst/>
              <a:gdLst/>
              <a:ahLst/>
              <a:cxnLst/>
              <a:rect l="l" t="t" r="r" b="b"/>
              <a:pathLst>
                <a:path w="975781" h="616628">
                  <a:moveTo>
                    <a:pt x="0" y="0"/>
                  </a:moveTo>
                  <a:lnTo>
                    <a:pt x="975781" y="0"/>
                  </a:lnTo>
                  <a:lnTo>
                    <a:pt x="975781" y="616628"/>
                  </a:lnTo>
                  <a:lnTo>
                    <a:pt x="0" y="616628"/>
                  </a:lnTo>
                  <a:close/>
                </a:path>
              </a:pathLst>
            </a:custGeom>
            <a:blipFill>
              <a:blip r:embed="rId7"/>
              <a:stretch>
                <a:fillRect l="-11485" r="-11485"/>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7724868" y="2057403"/>
            <a:ext cx="30809664" cy="1771750"/>
            <a:chOff x="0" y="0"/>
            <a:chExt cx="8114479" cy="466634"/>
          </a:xfrm>
        </p:grpSpPr>
        <p:sp>
          <p:nvSpPr>
            <p:cNvPr id="7" name="Freeform 7"/>
            <p:cNvSpPr/>
            <p:nvPr/>
          </p:nvSpPr>
          <p:spPr>
            <a:xfrm>
              <a:off x="0" y="0"/>
              <a:ext cx="8114479" cy="466634"/>
            </a:xfrm>
            <a:custGeom>
              <a:avLst/>
              <a:gdLst/>
              <a:ahLst/>
              <a:cxnLst/>
              <a:rect l="l" t="t" r="r" b="b"/>
              <a:pathLst>
                <a:path w="8114479" h="466634">
                  <a:moveTo>
                    <a:pt x="0" y="0"/>
                  </a:moveTo>
                  <a:lnTo>
                    <a:pt x="8114479" y="0"/>
                  </a:lnTo>
                  <a:lnTo>
                    <a:pt x="8114479" y="466634"/>
                  </a:lnTo>
                  <a:lnTo>
                    <a:pt x="0" y="466634"/>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8" name="TextBox 8"/>
            <p:cNvSpPr txBox="1"/>
            <p:nvPr/>
          </p:nvSpPr>
          <p:spPr>
            <a:xfrm>
              <a:off x="0" y="38100"/>
              <a:ext cx="8114479" cy="428534"/>
            </a:xfrm>
            <a:prstGeom prst="rect">
              <a:avLst/>
            </a:prstGeom>
          </p:spPr>
          <p:txBody>
            <a:bodyPr lIns="50800" tIns="50800" rIns="50800" bIns="50800" rtlCol="0" anchor="ctr"/>
            <a:lstStyle/>
            <a:p>
              <a:pPr algn="ctr">
                <a:lnSpc>
                  <a:spcPts val="2473"/>
                </a:lnSpc>
              </a:pPr>
              <a:endParaRPr/>
            </a:p>
          </p:txBody>
        </p:sp>
      </p:grpSp>
      <p:grpSp>
        <p:nvGrpSpPr>
          <p:cNvPr id="9" name="Group 9"/>
          <p:cNvGrpSpPr/>
          <p:nvPr/>
        </p:nvGrpSpPr>
        <p:grpSpPr>
          <a:xfrm>
            <a:off x="624680" y="4624451"/>
            <a:ext cx="6661411" cy="4472334"/>
            <a:chOff x="0" y="0"/>
            <a:chExt cx="1754446" cy="1177899"/>
          </a:xfrm>
        </p:grpSpPr>
        <p:sp>
          <p:nvSpPr>
            <p:cNvPr id="10" name="Freeform 10"/>
            <p:cNvSpPr/>
            <p:nvPr/>
          </p:nvSpPr>
          <p:spPr>
            <a:xfrm>
              <a:off x="0" y="0"/>
              <a:ext cx="1754446" cy="1177899"/>
            </a:xfrm>
            <a:custGeom>
              <a:avLst/>
              <a:gdLst/>
              <a:ahLst/>
              <a:cxnLst/>
              <a:rect l="l" t="t" r="r" b="b"/>
              <a:pathLst>
                <a:path w="1754446" h="1177899">
                  <a:moveTo>
                    <a:pt x="0" y="0"/>
                  </a:moveTo>
                  <a:lnTo>
                    <a:pt x="1754446" y="0"/>
                  </a:lnTo>
                  <a:lnTo>
                    <a:pt x="1754446" y="1177899"/>
                  </a:lnTo>
                  <a:lnTo>
                    <a:pt x="0" y="1177899"/>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11" name="TextBox 11"/>
            <p:cNvSpPr txBox="1"/>
            <p:nvPr/>
          </p:nvSpPr>
          <p:spPr>
            <a:xfrm>
              <a:off x="0" y="38100"/>
              <a:ext cx="1754446" cy="1139799"/>
            </a:xfrm>
            <a:prstGeom prst="rect">
              <a:avLst/>
            </a:prstGeom>
          </p:spPr>
          <p:txBody>
            <a:bodyPr lIns="50800" tIns="50800" rIns="50800" bIns="50800" rtlCol="0" anchor="ctr"/>
            <a:lstStyle/>
            <a:p>
              <a:pPr algn="ctr">
                <a:lnSpc>
                  <a:spcPts val="2473"/>
                </a:lnSpc>
              </a:pPr>
              <a:endParaRPr/>
            </a:p>
          </p:txBody>
        </p:sp>
      </p:grpSp>
      <p:grpSp>
        <p:nvGrpSpPr>
          <p:cNvPr id="12" name="Group 12"/>
          <p:cNvGrpSpPr/>
          <p:nvPr/>
        </p:nvGrpSpPr>
        <p:grpSpPr>
          <a:xfrm>
            <a:off x="8303181" y="3829153"/>
            <a:ext cx="418645" cy="41864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45DEEF">
                      <a:alpha val="100000"/>
                    </a:srgbClr>
                  </a:gs>
                  <a:gs pos="100000">
                    <a:srgbClr val="0074AD">
                      <a:alpha val="6500"/>
                    </a:srgbClr>
                  </a:gs>
                </a:gsLst>
                <a:lin ang="0"/>
              </a:gradFill>
              <a:prstDash val="solid"/>
              <a:miter/>
            </a:ln>
          </p:spPr>
          <p:txBody>
            <a:bodyPr/>
            <a:lstStyle/>
            <a:p>
              <a:endParaRPr lang="ar-EG"/>
            </a:p>
          </p:txBody>
        </p:sp>
        <p:sp>
          <p:nvSpPr>
            <p:cNvPr id="14" name="TextBox 14"/>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15" name="TextBox 15"/>
          <p:cNvSpPr txBox="1"/>
          <p:nvPr/>
        </p:nvSpPr>
        <p:spPr>
          <a:xfrm>
            <a:off x="3955385" y="2376679"/>
            <a:ext cx="13481278" cy="1114117"/>
          </a:xfrm>
          <a:prstGeom prst="rect">
            <a:avLst/>
          </a:prstGeom>
        </p:spPr>
        <p:txBody>
          <a:bodyPr lIns="0" tIns="0" rIns="0" bIns="0" rtlCol="0" anchor="t">
            <a:spAutoFit/>
          </a:bodyPr>
          <a:lstStyle/>
          <a:p>
            <a:pPr algn="l">
              <a:lnSpc>
                <a:spcPts val="8569"/>
              </a:lnSpc>
              <a:spcBef>
                <a:spcPct val="0"/>
              </a:spcBef>
            </a:pPr>
            <a:r>
              <a:rPr lang="en-US" sz="8084">
                <a:solidFill>
                  <a:srgbClr val="FFFFFF"/>
                </a:solidFill>
                <a:latin typeface="Anton"/>
                <a:ea typeface="Anton"/>
                <a:cs typeface="Anton"/>
                <a:sym typeface="Anton"/>
              </a:rPr>
              <a:t>PORTS &amp; PROTOCOL ANALYSIS</a:t>
            </a:r>
          </a:p>
        </p:txBody>
      </p:sp>
      <p:sp>
        <p:nvSpPr>
          <p:cNvPr id="16" name="Freeform 16"/>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3"/>
            <a:stretch>
              <a:fillRect/>
            </a:stretch>
          </a:blipFill>
        </p:spPr>
        <p:txBody>
          <a:bodyPr/>
          <a:lstStyle/>
          <a:p>
            <a:endParaRPr lang="ar-EG"/>
          </a:p>
        </p:txBody>
      </p:sp>
      <p:sp>
        <p:nvSpPr>
          <p:cNvPr id="17" name="Freeform 17"/>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4"/>
            <a:stretch>
              <a:fillRect r="-2988"/>
            </a:stretch>
          </a:blipFill>
        </p:spPr>
        <p:txBody>
          <a:bodyPr/>
          <a:lstStyle/>
          <a:p>
            <a:endParaRPr lang="ar-EG"/>
          </a:p>
        </p:txBody>
      </p:sp>
      <p:sp>
        <p:nvSpPr>
          <p:cNvPr id="18" name="Freeform 18"/>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19" name="TextBox 19"/>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8</a:t>
            </a:r>
          </a:p>
        </p:txBody>
      </p:sp>
      <p:grpSp>
        <p:nvGrpSpPr>
          <p:cNvPr id="20" name="Group 20"/>
          <p:cNvGrpSpPr/>
          <p:nvPr/>
        </p:nvGrpSpPr>
        <p:grpSpPr>
          <a:xfrm>
            <a:off x="7286090" y="4038476"/>
            <a:ext cx="6196857" cy="3008205"/>
            <a:chOff x="0" y="0"/>
            <a:chExt cx="902691" cy="438203"/>
          </a:xfrm>
        </p:grpSpPr>
        <p:sp>
          <p:nvSpPr>
            <p:cNvPr id="21" name="Freeform 21"/>
            <p:cNvSpPr/>
            <p:nvPr/>
          </p:nvSpPr>
          <p:spPr>
            <a:xfrm>
              <a:off x="0" y="0"/>
              <a:ext cx="902691" cy="438203"/>
            </a:xfrm>
            <a:custGeom>
              <a:avLst/>
              <a:gdLst/>
              <a:ahLst/>
              <a:cxnLst/>
              <a:rect l="l" t="t" r="r" b="b"/>
              <a:pathLst>
                <a:path w="902691" h="438203">
                  <a:moveTo>
                    <a:pt x="0" y="0"/>
                  </a:moveTo>
                  <a:lnTo>
                    <a:pt x="902691" y="0"/>
                  </a:lnTo>
                  <a:lnTo>
                    <a:pt x="902691" y="438203"/>
                  </a:lnTo>
                  <a:lnTo>
                    <a:pt x="0" y="438203"/>
                  </a:lnTo>
                  <a:close/>
                </a:path>
              </a:pathLst>
            </a:custGeom>
            <a:blipFill>
              <a:blip r:embed="rId6"/>
              <a:stretch>
                <a:fillRect t="-2444" b="-2444"/>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grpSp>
        <p:nvGrpSpPr>
          <p:cNvPr id="22" name="Group 22"/>
          <p:cNvGrpSpPr/>
          <p:nvPr/>
        </p:nvGrpSpPr>
        <p:grpSpPr>
          <a:xfrm>
            <a:off x="10686038" y="7268214"/>
            <a:ext cx="5593819" cy="2797212"/>
            <a:chOff x="0" y="0"/>
            <a:chExt cx="975781" cy="487943"/>
          </a:xfrm>
        </p:grpSpPr>
        <p:sp>
          <p:nvSpPr>
            <p:cNvPr id="23" name="Freeform 23"/>
            <p:cNvSpPr/>
            <p:nvPr/>
          </p:nvSpPr>
          <p:spPr>
            <a:xfrm>
              <a:off x="0" y="0"/>
              <a:ext cx="975781" cy="487943"/>
            </a:xfrm>
            <a:custGeom>
              <a:avLst/>
              <a:gdLst/>
              <a:ahLst/>
              <a:cxnLst/>
              <a:rect l="l" t="t" r="r" b="b"/>
              <a:pathLst>
                <a:path w="975781" h="487943">
                  <a:moveTo>
                    <a:pt x="0" y="0"/>
                  </a:moveTo>
                  <a:lnTo>
                    <a:pt x="975781" y="0"/>
                  </a:lnTo>
                  <a:lnTo>
                    <a:pt x="975781" y="487943"/>
                  </a:lnTo>
                  <a:lnTo>
                    <a:pt x="0" y="487943"/>
                  </a:lnTo>
                  <a:close/>
                </a:path>
              </a:pathLst>
            </a:custGeom>
            <a:blipFill>
              <a:blip r:embed="rId7"/>
              <a:stretch>
                <a:fillRect t="-1416" b="-1416"/>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sp>
        <p:nvSpPr>
          <p:cNvPr id="24" name="TextBox 24"/>
          <p:cNvSpPr txBox="1"/>
          <p:nvPr/>
        </p:nvSpPr>
        <p:spPr>
          <a:xfrm>
            <a:off x="914827" y="4773731"/>
            <a:ext cx="4846332" cy="4479225"/>
          </a:xfrm>
          <a:prstGeom prst="rect">
            <a:avLst/>
          </a:prstGeom>
        </p:spPr>
        <p:txBody>
          <a:bodyPr lIns="0" tIns="0" rIns="0" bIns="0" rtlCol="0" anchor="t">
            <a:spAutoFit/>
          </a:bodyPr>
          <a:lstStyle/>
          <a:p>
            <a:pPr algn="l">
              <a:lnSpc>
                <a:spcPts val="3538"/>
              </a:lnSpc>
              <a:spcBef>
                <a:spcPct val="0"/>
              </a:spcBef>
            </a:pPr>
            <a:r>
              <a:rPr lang="en-US" sz="2527" b="1">
                <a:solidFill>
                  <a:srgbClr val="FFFFFF"/>
                </a:solidFill>
                <a:latin typeface="Raleway Bold"/>
                <a:ea typeface="Raleway Bold"/>
                <a:cs typeface="Raleway Bold"/>
                <a:sym typeface="Raleway Bold"/>
              </a:rPr>
              <a:t>"ATTACK ACTIVITY IS MAINLY FOCUSED ON CRITICAL SERVICE PORTS RELATED TO WEB ACCESS, SECURE COMMUNICATION, AND REMOTE ACCESS. THIS HIGHLIGHTS WEB INFRASTRUCTURE AS THE PRIMARY EXPOSURE AREA."</a:t>
            </a:r>
          </a:p>
          <a:p>
            <a:pPr algn="l">
              <a:lnSpc>
                <a:spcPts val="3538"/>
              </a:lnSpc>
              <a:spcBef>
                <a:spcPct val="0"/>
              </a:spcBef>
            </a:pPr>
            <a:endParaRPr lang="en-US" sz="2527" b="1">
              <a:solidFill>
                <a:srgbClr val="FFFFFF"/>
              </a:solidFill>
              <a:latin typeface="Raleway Bold"/>
              <a:ea typeface="Raleway Bold"/>
              <a:cs typeface="Raleway Bold"/>
              <a:sym typeface="Raleway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11996079" y="2182140"/>
            <a:ext cx="35201191" cy="1590046"/>
            <a:chOff x="0" y="0"/>
            <a:chExt cx="9271095" cy="418778"/>
          </a:xfrm>
        </p:grpSpPr>
        <p:sp>
          <p:nvSpPr>
            <p:cNvPr id="7" name="Freeform 7"/>
            <p:cNvSpPr/>
            <p:nvPr/>
          </p:nvSpPr>
          <p:spPr>
            <a:xfrm>
              <a:off x="0" y="0"/>
              <a:ext cx="9271095" cy="418778"/>
            </a:xfrm>
            <a:custGeom>
              <a:avLst/>
              <a:gdLst/>
              <a:ahLst/>
              <a:cxnLst/>
              <a:rect l="l" t="t" r="r" b="b"/>
              <a:pathLst>
                <a:path w="9271095" h="418778">
                  <a:moveTo>
                    <a:pt x="0" y="0"/>
                  </a:moveTo>
                  <a:lnTo>
                    <a:pt x="9271095" y="0"/>
                  </a:lnTo>
                  <a:lnTo>
                    <a:pt x="9271095" y="418778"/>
                  </a:lnTo>
                  <a:lnTo>
                    <a:pt x="0" y="418778"/>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8" name="TextBox 8"/>
            <p:cNvSpPr txBox="1"/>
            <p:nvPr/>
          </p:nvSpPr>
          <p:spPr>
            <a:xfrm>
              <a:off x="0" y="38100"/>
              <a:ext cx="9271095" cy="380678"/>
            </a:xfrm>
            <a:prstGeom prst="rect">
              <a:avLst/>
            </a:prstGeom>
          </p:spPr>
          <p:txBody>
            <a:bodyPr lIns="50800" tIns="50800" rIns="50800" bIns="50800" rtlCol="0" anchor="ctr"/>
            <a:lstStyle/>
            <a:p>
              <a:pPr algn="ctr">
                <a:lnSpc>
                  <a:spcPts val="2473"/>
                </a:lnSpc>
              </a:pPr>
              <a:endParaRPr/>
            </a:p>
          </p:txBody>
        </p:sp>
      </p:grpSp>
      <p:grpSp>
        <p:nvGrpSpPr>
          <p:cNvPr id="9" name="Group 9"/>
          <p:cNvGrpSpPr/>
          <p:nvPr/>
        </p:nvGrpSpPr>
        <p:grpSpPr>
          <a:xfrm>
            <a:off x="1028700" y="4083949"/>
            <a:ext cx="6251138" cy="3880957"/>
            <a:chOff x="0" y="0"/>
            <a:chExt cx="1646390" cy="1022145"/>
          </a:xfrm>
        </p:grpSpPr>
        <p:sp>
          <p:nvSpPr>
            <p:cNvPr id="10" name="Freeform 10"/>
            <p:cNvSpPr/>
            <p:nvPr/>
          </p:nvSpPr>
          <p:spPr>
            <a:xfrm>
              <a:off x="0" y="0"/>
              <a:ext cx="1646390" cy="1022145"/>
            </a:xfrm>
            <a:custGeom>
              <a:avLst/>
              <a:gdLst/>
              <a:ahLst/>
              <a:cxnLst/>
              <a:rect l="l" t="t" r="r" b="b"/>
              <a:pathLst>
                <a:path w="1646390" h="1022145">
                  <a:moveTo>
                    <a:pt x="0" y="0"/>
                  </a:moveTo>
                  <a:lnTo>
                    <a:pt x="1646390" y="0"/>
                  </a:lnTo>
                  <a:lnTo>
                    <a:pt x="1646390" y="1022145"/>
                  </a:lnTo>
                  <a:lnTo>
                    <a:pt x="0" y="1022145"/>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11" name="TextBox 11"/>
            <p:cNvSpPr txBox="1"/>
            <p:nvPr/>
          </p:nvSpPr>
          <p:spPr>
            <a:xfrm>
              <a:off x="0" y="38100"/>
              <a:ext cx="1646390" cy="984045"/>
            </a:xfrm>
            <a:prstGeom prst="rect">
              <a:avLst/>
            </a:prstGeom>
          </p:spPr>
          <p:txBody>
            <a:bodyPr lIns="50800" tIns="50800" rIns="50800" bIns="50800" rtlCol="0" anchor="ctr"/>
            <a:lstStyle/>
            <a:p>
              <a:pPr algn="ctr">
                <a:lnSpc>
                  <a:spcPts val="2473"/>
                </a:lnSpc>
              </a:pPr>
              <a:endParaRPr/>
            </a:p>
          </p:txBody>
        </p:sp>
      </p:grpSp>
      <p:sp>
        <p:nvSpPr>
          <p:cNvPr id="12" name="TextBox 12"/>
          <p:cNvSpPr txBox="1"/>
          <p:nvPr/>
        </p:nvSpPr>
        <p:spPr>
          <a:xfrm>
            <a:off x="3354033" y="2527211"/>
            <a:ext cx="14048466" cy="1173820"/>
          </a:xfrm>
          <a:prstGeom prst="rect">
            <a:avLst/>
          </a:prstGeom>
        </p:spPr>
        <p:txBody>
          <a:bodyPr lIns="0" tIns="0" rIns="0" bIns="0" rtlCol="0" anchor="t">
            <a:spAutoFit/>
          </a:bodyPr>
          <a:lstStyle/>
          <a:p>
            <a:pPr algn="l">
              <a:lnSpc>
                <a:spcPts val="8919"/>
              </a:lnSpc>
              <a:spcBef>
                <a:spcPct val="0"/>
              </a:spcBef>
            </a:pPr>
            <a:r>
              <a:rPr lang="en-US" sz="8414">
                <a:solidFill>
                  <a:srgbClr val="FFFFFF"/>
                </a:solidFill>
                <a:latin typeface="Anton"/>
                <a:ea typeface="Anton"/>
                <a:cs typeface="Anton"/>
                <a:sym typeface="Anton"/>
              </a:rPr>
              <a:t>TIME-BASED ATTACK ANALYSIS</a:t>
            </a:r>
          </a:p>
        </p:txBody>
      </p:sp>
      <p:sp>
        <p:nvSpPr>
          <p:cNvPr id="13" name="TextBox 13"/>
          <p:cNvSpPr txBox="1"/>
          <p:nvPr/>
        </p:nvSpPr>
        <p:spPr>
          <a:xfrm>
            <a:off x="1096377" y="4243652"/>
            <a:ext cx="5710668" cy="3422273"/>
          </a:xfrm>
          <a:prstGeom prst="rect">
            <a:avLst/>
          </a:prstGeom>
        </p:spPr>
        <p:txBody>
          <a:bodyPr lIns="0" tIns="0" rIns="0" bIns="0" rtlCol="0" anchor="t">
            <a:spAutoFit/>
          </a:bodyPr>
          <a:lstStyle/>
          <a:p>
            <a:pPr algn="l">
              <a:lnSpc>
                <a:spcPts val="3920"/>
              </a:lnSpc>
            </a:pPr>
            <a:r>
              <a:rPr lang="en-US" sz="2800" b="1">
                <a:solidFill>
                  <a:srgbClr val="FFFFFF"/>
                </a:solidFill>
                <a:latin typeface="Raleway Bold"/>
                <a:ea typeface="Raleway Bold"/>
                <a:cs typeface="Raleway Bold"/>
                <a:sym typeface="Raleway Bold"/>
              </a:rPr>
              <a:t>"Threat activity significantly increases during evening hours, especially near midnight. This suggests attackers may target periods of lower operational attention."</a:t>
            </a:r>
          </a:p>
          <a:p>
            <a:pPr algn="l">
              <a:lnSpc>
                <a:spcPts val="3920"/>
              </a:lnSpc>
              <a:spcBef>
                <a:spcPct val="0"/>
              </a:spcBef>
            </a:pPr>
            <a:endParaRPr lang="en-US" sz="2800" b="1">
              <a:solidFill>
                <a:srgbClr val="FFFFFF"/>
              </a:solidFill>
              <a:latin typeface="Raleway Bold"/>
              <a:ea typeface="Raleway Bold"/>
              <a:cs typeface="Raleway Bold"/>
              <a:sym typeface="Raleway Bold"/>
            </a:endParaRPr>
          </a:p>
        </p:txBody>
      </p:sp>
      <p:sp>
        <p:nvSpPr>
          <p:cNvPr id="14" name="Freeform 14"/>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3"/>
            <a:stretch>
              <a:fillRect/>
            </a:stretch>
          </a:blipFill>
        </p:spPr>
        <p:txBody>
          <a:bodyPr/>
          <a:lstStyle/>
          <a:p>
            <a:endParaRPr lang="ar-EG"/>
          </a:p>
        </p:txBody>
      </p:sp>
      <p:sp>
        <p:nvSpPr>
          <p:cNvPr id="15" name="Freeform 15"/>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4"/>
            <a:stretch>
              <a:fillRect r="-2988"/>
            </a:stretch>
          </a:blipFill>
        </p:spPr>
        <p:txBody>
          <a:bodyPr/>
          <a:lstStyle/>
          <a:p>
            <a:endParaRPr lang="ar-EG"/>
          </a:p>
        </p:txBody>
      </p:sp>
      <p:sp>
        <p:nvSpPr>
          <p:cNvPr id="16" name="Freeform 16"/>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7" name="Group 17"/>
          <p:cNvGrpSpPr/>
          <p:nvPr/>
        </p:nvGrpSpPr>
        <p:grpSpPr>
          <a:xfrm>
            <a:off x="7279838" y="4083949"/>
            <a:ext cx="6607790" cy="2923977"/>
            <a:chOff x="0" y="0"/>
            <a:chExt cx="902691" cy="399445"/>
          </a:xfrm>
        </p:grpSpPr>
        <p:sp>
          <p:nvSpPr>
            <p:cNvPr id="18" name="Freeform 18"/>
            <p:cNvSpPr/>
            <p:nvPr/>
          </p:nvSpPr>
          <p:spPr>
            <a:xfrm>
              <a:off x="0" y="0"/>
              <a:ext cx="902691" cy="399445"/>
            </a:xfrm>
            <a:custGeom>
              <a:avLst/>
              <a:gdLst/>
              <a:ahLst/>
              <a:cxnLst/>
              <a:rect l="l" t="t" r="r" b="b"/>
              <a:pathLst>
                <a:path w="902691" h="399445">
                  <a:moveTo>
                    <a:pt x="0" y="0"/>
                  </a:moveTo>
                  <a:lnTo>
                    <a:pt x="902691" y="0"/>
                  </a:lnTo>
                  <a:lnTo>
                    <a:pt x="902691" y="399445"/>
                  </a:lnTo>
                  <a:lnTo>
                    <a:pt x="0" y="399445"/>
                  </a:lnTo>
                  <a:close/>
                </a:path>
              </a:pathLst>
            </a:custGeom>
            <a:blipFill>
              <a:blip r:embed="rId6"/>
              <a:stretch>
                <a:fillRect t="-2133" b="-2133"/>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grpSp>
        <p:nvGrpSpPr>
          <p:cNvPr id="19" name="Group 19"/>
          <p:cNvGrpSpPr/>
          <p:nvPr/>
        </p:nvGrpSpPr>
        <p:grpSpPr>
          <a:xfrm>
            <a:off x="9890957" y="7323288"/>
            <a:ext cx="6196857" cy="2742138"/>
            <a:chOff x="0" y="0"/>
            <a:chExt cx="902691" cy="399445"/>
          </a:xfrm>
        </p:grpSpPr>
        <p:sp>
          <p:nvSpPr>
            <p:cNvPr id="20" name="Freeform 20"/>
            <p:cNvSpPr/>
            <p:nvPr/>
          </p:nvSpPr>
          <p:spPr>
            <a:xfrm>
              <a:off x="0" y="0"/>
              <a:ext cx="902691" cy="399445"/>
            </a:xfrm>
            <a:custGeom>
              <a:avLst/>
              <a:gdLst/>
              <a:ahLst/>
              <a:cxnLst/>
              <a:rect l="l" t="t" r="r" b="b"/>
              <a:pathLst>
                <a:path w="902691" h="399445">
                  <a:moveTo>
                    <a:pt x="0" y="0"/>
                  </a:moveTo>
                  <a:lnTo>
                    <a:pt x="902691" y="0"/>
                  </a:lnTo>
                  <a:lnTo>
                    <a:pt x="902691" y="399445"/>
                  </a:lnTo>
                  <a:lnTo>
                    <a:pt x="0" y="399445"/>
                  </a:lnTo>
                  <a:close/>
                </a:path>
              </a:pathLst>
            </a:custGeom>
            <a:blipFill>
              <a:blip r:embed="rId7"/>
              <a:stretch>
                <a:fillRect t="-13505" b="-13505"/>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sp>
        <p:nvSpPr>
          <p:cNvPr id="21" name="TextBox 21"/>
          <p:cNvSpPr txBox="1"/>
          <p:nvPr/>
        </p:nvSpPr>
        <p:spPr>
          <a:xfrm>
            <a:off x="16656616" y="9872467"/>
            <a:ext cx="1205367" cy="192958"/>
          </a:xfrm>
          <a:prstGeom prst="rect">
            <a:avLst/>
          </a:prstGeom>
        </p:spPr>
        <p:txBody>
          <a:bodyPr lIns="0" tIns="0" rIns="0" bIns="0" rtlCol="0" anchor="t">
            <a:spAutoFit/>
          </a:bodyPr>
          <a:lstStyle/>
          <a:p>
            <a:pPr algn="ctr">
              <a:lnSpc>
                <a:spcPts val="1551"/>
              </a:lnSpc>
              <a:spcBef>
                <a:spcPct val="0"/>
              </a:spcBef>
            </a:pPr>
            <a:r>
              <a:rPr lang="en-US" sz="1463" b="1" spc="379">
                <a:solidFill>
                  <a:srgbClr val="FFFFFF"/>
                </a:solidFill>
                <a:latin typeface="TT Lakes Neue Bold"/>
                <a:ea typeface="TT Lakes Neue Bold"/>
                <a:cs typeface="TT Lakes Neue Bold"/>
                <a:sym typeface="TT Lakes Neue Bold"/>
              </a:rPr>
              <a:t>PAGE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7970688" y="2084588"/>
            <a:ext cx="27740609" cy="1629149"/>
            <a:chOff x="0" y="0"/>
            <a:chExt cx="7306169" cy="429076"/>
          </a:xfrm>
        </p:grpSpPr>
        <p:sp>
          <p:nvSpPr>
            <p:cNvPr id="7" name="Freeform 7"/>
            <p:cNvSpPr/>
            <p:nvPr/>
          </p:nvSpPr>
          <p:spPr>
            <a:xfrm>
              <a:off x="0" y="0"/>
              <a:ext cx="7306169" cy="429076"/>
            </a:xfrm>
            <a:custGeom>
              <a:avLst/>
              <a:gdLst/>
              <a:ahLst/>
              <a:cxnLst/>
              <a:rect l="l" t="t" r="r" b="b"/>
              <a:pathLst>
                <a:path w="7306169" h="429076">
                  <a:moveTo>
                    <a:pt x="0" y="0"/>
                  </a:moveTo>
                  <a:lnTo>
                    <a:pt x="7306169" y="0"/>
                  </a:lnTo>
                  <a:lnTo>
                    <a:pt x="7306169" y="429076"/>
                  </a:lnTo>
                  <a:lnTo>
                    <a:pt x="0" y="429076"/>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8" name="TextBox 8"/>
            <p:cNvSpPr txBox="1"/>
            <p:nvPr/>
          </p:nvSpPr>
          <p:spPr>
            <a:xfrm>
              <a:off x="0" y="38100"/>
              <a:ext cx="7306169" cy="390976"/>
            </a:xfrm>
            <a:prstGeom prst="rect">
              <a:avLst/>
            </a:prstGeom>
          </p:spPr>
          <p:txBody>
            <a:bodyPr lIns="50800" tIns="50800" rIns="50800" bIns="50800" rtlCol="0" anchor="ctr"/>
            <a:lstStyle/>
            <a:p>
              <a:pPr algn="ctr">
                <a:lnSpc>
                  <a:spcPts val="2473"/>
                </a:lnSpc>
              </a:pPr>
              <a:endParaRPr/>
            </a:p>
          </p:txBody>
        </p:sp>
      </p:grpSp>
      <p:sp>
        <p:nvSpPr>
          <p:cNvPr id="9" name="TextBox 9"/>
          <p:cNvSpPr txBox="1"/>
          <p:nvPr/>
        </p:nvSpPr>
        <p:spPr>
          <a:xfrm>
            <a:off x="5899617" y="2367154"/>
            <a:ext cx="6488766" cy="1168791"/>
          </a:xfrm>
          <a:prstGeom prst="rect">
            <a:avLst/>
          </a:prstGeom>
        </p:spPr>
        <p:txBody>
          <a:bodyPr lIns="0" tIns="0" rIns="0" bIns="0" rtlCol="0" anchor="t">
            <a:spAutoFit/>
          </a:bodyPr>
          <a:lstStyle/>
          <a:p>
            <a:pPr algn="ctr">
              <a:lnSpc>
                <a:spcPts val="8919"/>
              </a:lnSpc>
              <a:spcBef>
                <a:spcPct val="0"/>
              </a:spcBef>
            </a:pPr>
            <a:r>
              <a:rPr lang="en-US" sz="8414">
                <a:solidFill>
                  <a:srgbClr val="FFFFFF"/>
                </a:solidFill>
                <a:latin typeface="Anton"/>
                <a:ea typeface="Anton"/>
                <a:cs typeface="Anton"/>
                <a:sym typeface="Anton"/>
              </a:rPr>
              <a:t>GEOGRAPHIC </a:t>
            </a:r>
          </a:p>
        </p:txBody>
      </p:sp>
      <p:grpSp>
        <p:nvGrpSpPr>
          <p:cNvPr id="10" name="Group 10"/>
          <p:cNvGrpSpPr/>
          <p:nvPr/>
        </p:nvGrpSpPr>
        <p:grpSpPr>
          <a:xfrm>
            <a:off x="7673606" y="-110601"/>
            <a:ext cx="4416244" cy="2278603"/>
            <a:chOff x="0" y="0"/>
            <a:chExt cx="1048952" cy="541217"/>
          </a:xfrm>
        </p:grpSpPr>
        <p:sp>
          <p:nvSpPr>
            <p:cNvPr id="11" name="Freeform 11"/>
            <p:cNvSpPr/>
            <p:nvPr/>
          </p:nvSpPr>
          <p:spPr>
            <a:xfrm>
              <a:off x="0" y="0"/>
              <a:ext cx="1048952" cy="541217"/>
            </a:xfrm>
            <a:custGeom>
              <a:avLst/>
              <a:gdLst/>
              <a:ahLst/>
              <a:cxnLst/>
              <a:rect l="l" t="t" r="r" b="b"/>
              <a:pathLst>
                <a:path w="1048952" h="541217">
                  <a:moveTo>
                    <a:pt x="524476" y="0"/>
                  </a:moveTo>
                  <a:lnTo>
                    <a:pt x="1048952" y="203200"/>
                  </a:lnTo>
                  <a:lnTo>
                    <a:pt x="1048952" y="338017"/>
                  </a:lnTo>
                  <a:lnTo>
                    <a:pt x="524476" y="541217"/>
                  </a:lnTo>
                  <a:lnTo>
                    <a:pt x="0" y="338017"/>
                  </a:lnTo>
                  <a:lnTo>
                    <a:pt x="0" y="203200"/>
                  </a:lnTo>
                  <a:lnTo>
                    <a:pt x="524476" y="0"/>
                  </a:lnTo>
                  <a:close/>
                </a:path>
              </a:pathLst>
            </a:custGeom>
            <a:blipFill>
              <a:blip r:embed="rId3"/>
              <a:stretch>
                <a:fillRect t="-4631" b="-4631"/>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sp>
        <p:nvSpPr>
          <p:cNvPr id="12" name="Freeform 12"/>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4"/>
            <a:stretch>
              <a:fillRect/>
            </a:stretch>
          </a:blipFill>
        </p:spPr>
        <p:txBody>
          <a:bodyPr/>
          <a:lstStyle/>
          <a:p>
            <a:endParaRPr lang="ar-EG"/>
          </a:p>
        </p:txBody>
      </p:sp>
      <p:sp>
        <p:nvSpPr>
          <p:cNvPr id="13" name="Freeform 13"/>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5"/>
            <a:stretch>
              <a:fillRect r="-2988"/>
            </a:stretch>
          </a:blipFill>
        </p:spPr>
        <p:txBody>
          <a:bodyPr/>
          <a:lstStyle/>
          <a:p>
            <a:endParaRPr lang="ar-EG"/>
          </a:p>
        </p:txBody>
      </p:sp>
      <p:sp>
        <p:nvSpPr>
          <p:cNvPr id="14" name="Freeform 14"/>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grpSp>
        <p:nvGrpSpPr>
          <p:cNvPr id="15" name="Group 15"/>
          <p:cNvGrpSpPr/>
          <p:nvPr/>
        </p:nvGrpSpPr>
        <p:grpSpPr>
          <a:xfrm>
            <a:off x="8663417" y="3808986"/>
            <a:ext cx="2516448" cy="1709155"/>
            <a:chOff x="0" y="0"/>
            <a:chExt cx="603306" cy="409761"/>
          </a:xfrm>
        </p:grpSpPr>
        <p:sp>
          <p:nvSpPr>
            <p:cNvPr id="16" name="Freeform 16"/>
            <p:cNvSpPr/>
            <p:nvPr/>
          </p:nvSpPr>
          <p:spPr>
            <a:xfrm>
              <a:off x="0" y="0"/>
              <a:ext cx="603306" cy="409761"/>
            </a:xfrm>
            <a:custGeom>
              <a:avLst/>
              <a:gdLst/>
              <a:ahLst/>
              <a:cxnLst/>
              <a:rect l="l" t="t" r="r" b="b"/>
              <a:pathLst>
                <a:path w="603306" h="409761">
                  <a:moveTo>
                    <a:pt x="0" y="0"/>
                  </a:moveTo>
                  <a:lnTo>
                    <a:pt x="603306" y="0"/>
                  </a:lnTo>
                  <a:lnTo>
                    <a:pt x="603306" y="409761"/>
                  </a:lnTo>
                  <a:lnTo>
                    <a:pt x="0" y="409761"/>
                  </a:lnTo>
                  <a:close/>
                </a:path>
              </a:pathLst>
            </a:custGeom>
            <a:blipFill>
              <a:blip r:embed="rId7"/>
              <a:stretch>
                <a:fillRect l="-9392" r="-9392" b="-37620"/>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grpSp>
        <p:nvGrpSpPr>
          <p:cNvPr id="17" name="Group 17"/>
          <p:cNvGrpSpPr/>
          <p:nvPr/>
        </p:nvGrpSpPr>
        <p:grpSpPr>
          <a:xfrm>
            <a:off x="12388383" y="3808986"/>
            <a:ext cx="2209035" cy="1709155"/>
            <a:chOff x="0" y="0"/>
            <a:chExt cx="578579" cy="447653"/>
          </a:xfrm>
        </p:grpSpPr>
        <p:sp>
          <p:nvSpPr>
            <p:cNvPr id="18" name="Freeform 18"/>
            <p:cNvSpPr/>
            <p:nvPr/>
          </p:nvSpPr>
          <p:spPr>
            <a:xfrm>
              <a:off x="0" y="0"/>
              <a:ext cx="578579" cy="447653"/>
            </a:xfrm>
            <a:custGeom>
              <a:avLst/>
              <a:gdLst/>
              <a:ahLst/>
              <a:cxnLst/>
              <a:rect l="l" t="t" r="r" b="b"/>
              <a:pathLst>
                <a:path w="578579" h="447653">
                  <a:moveTo>
                    <a:pt x="0" y="0"/>
                  </a:moveTo>
                  <a:lnTo>
                    <a:pt x="578579" y="0"/>
                  </a:lnTo>
                  <a:lnTo>
                    <a:pt x="578579" y="447653"/>
                  </a:lnTo>
                  <a:lnTo>
                    <a:pt x="0" y="447653"/>
                  </a:lnTo>
                  <a:close/>
                </a:path>
              </a:pathLst>
            </a:custGeom>
            <a:blipFill>
              <a:blip r:embed="rId8"/>
              <a:stretch>
                <a:fillRect t="-5317" b="-5317"/>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grpSp>
        <p:nvGrpSpPr>
          <p:cNvPr id="19" name="Group 19"/>
          <p:cNvGrpSpPr/>
          <p:nvPr/>
        </p:nvGrpSpPr>
        <p:grpSpPr>
          <a:xfrm>
            <a:off x="7972034" y="5613391"/>
            <a:ext cx="7395578" cy="4456294"/>
            <a:chOff x="0" y="0"/>
            <a:chExt cx="742916" cy="447653"/>
          </a:xfrm>
        </p:grpSpPr>
        <p:sp>
          <p:nvSpPr>
            <p:cNvPr id="20" name="Freeform 20"/>
            <p:cNvSpPr/>
            <p:nvPr/>
          </p:nvSpPr>
          <p:spPr>
            <a:xfrm>
              <a:off x="0" y="0"/>
              <a:ext cx="742916" cy="447653"/>
            </a:xfrm>
            <a:custGeom>
              <a:avLst/>
              <a:gdLst/>
              <a:ahLst/>
              <a:cxnLst/>
              <a:rect l="l" t="t" r="r" b="b"/>
              <a:pathLst>
                <a:path w="742916" h="447653">
                  <a:moveTo>
                    <a:pt x="0" y="0"/>
                  </a:moveTo>
                  <a:lnTo>
                    <a:pt x="742916" y="0"/>
                  </a:lnTo>
                  <a:lnTo>
                    <a:pt x="742916" y="447653"/>
                  </a:lnTo>
                  <a:lnTo>
                    <a:pt x="0" y="447653"/>
                  </a:lnTo>
                  <a:close/>
                </a:path>
              </a:pathLst>
            </a:custGeom>
            <a:blipFill>
              <a:blip r:embed="rId9"/>
              <a:stretch>
                <a:fillRect l="-474" r="-474"/>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sp>
        <p:nvSpPr>
          <p:cNvPr id="21" name="TextBox 21"/>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10</a:t>
            </a:r>
          </a:p>
        </p:txBody>
      </p:sp>
      <p:grpSp>
        <p:nvGrpSpPr>
          <p:cNvPr id="22" name="Group 22"/>
          <p:cNvGrpSpPr/>
          <p:nvPr/>
        </p:nvGrpSpPr>
        <p:grpSpPr>
          <a:xfrm>
            <a:off x="1096377" y="4050076"/>
            <a:ext cx="5921504" cy="4405674"/>
            <a:chOff x="0" y="0"/>
            <a:chExt cx="1559573" cy="1160342"/>
          </a:xfrm>
        </p:grpSpPr>
        <p:sp>
          <p:nvSpPr>
            <p:cNvPr id="23" name="Freeform 23"/>
            <p:cNvSpPr/>
            <p:nvPr/>
          </p:nvSpPr>
          <p:spPr>
            <a:xfrm>
              <a:off x="0" y="0"/>
              <a:ext cx="1559573" cy="1160342"/>
            </a:xfrm>
            <a:custGeom>
              <a:avLst/>
              <a:gdLst/>
              <a:ahLst/>
              <a:cxnLst/>
              <a:rect l="l" t="t" r="r" b="b"/>
              <a:pathLst>
                <a:path w="1559573" h="1160342">
                  <a:moveTo>
                    <a:pt x="0" y="0"/>
                  </a:moveTo>
                  <a:lnTo>
                    <a:pt x="1559573" y="0"/>
                  </a:lnTo>
                  <a:lnTo>
                    <a:pt x="1559573" y="1160342"/>
                  </a:lnTo>
                  <a:lnTo>
                    <a:pt x="0" y="1160342"/>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24" name="TextBox 24"/>
            <p:cNvSpPr txBox="1"/>
            <p:nvPr/>
          </p:nvSpPr>
          <p:spPr>
            <a:xfrm>
              <a:off x="0" y="38100"/>
              <a:ext cx="1559573" cy="1122242"/>
            </a:xfrm>
            <a:prstGeom prst="rect">
              <a:avLst/>
            </a:prstGeom>
          </p:spPr>
          <p:txBody>
            <a:bodyPr lIns="50800" tIns="50800" rIns="50800" bIns="50800" rtlCol="0" anchor="ctr"/>
            <a:lstStyle/>
            <a:p>
              <a:pPr algn="ctr">
                <a:lnSpc>
                  <a:spcPts val="2473"/>
                </a:lnSpc>
              </a:pPr>
              <a:endParaRPr/>
            </a:p>
          </p:txBody>
        </p:sp>
      </p:grpSp>
      <p:sp>
        <p:nvSpPr>
          <p:cNvPr id="25" name="TextBox 25"/>
          <p:cNvSpPr txBox="1"/>
          <p:nvPr/>
        </p:nvSpPr>
        <p:spPr>
          <a:xfrm>
            <a:off x="1184953" y="4081810"/>
            <a:ext cx="5295309" cy="3456572"/>
          </a:xfrm>
          <a:prstGeom prst="rect">
            <a:avLst/>
          </a:prstGeom>
        </p:spPr>
        <p:txBody>
          <a:bodyPr lIns="0" tIns="0" rIns="0" bIns="0" rtlCol="0" anchor="t">
            <a:spAutoFit/>
          </a:bodyPr>
          <a:lstStyle/>
          <a:p>
            <a:pPr algn="l">
              <a:lnSpc>
                <a:spcPts val="4587"/>
              </a:lnSpc>
              <a:spcBef>
                <a:spcPct val="0"/>
              </a:spcBef>
            </a:pPr>
            <a:r>
              <a:rPr lang="en-US" sz="3276" b="1">
                <a:solidFill>
                  <a:srgbClr val="FFFFFF"/>
                </a:solidFill>
                <a:latin typeface="Raleway Bold"/>
                <a:ea typeface="Raleway Bold"/>
                <a:cs typeface="Raleway Bold"/>
                <a:sym typeface="Raleway Bold"/>
              </a:rPr>
              <a:t>"The attack sources are globally distributed rather than concentrated in one region, indicating diverse and international threat exposure."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dirty="0"/>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11845684" y="2262379"/>
            <a:ext cx="33336296" cy="1529888"/>
            <a:chOff x="0" y="0"/>
            <a:chExt cx="8779930" cy="402934"/>
          </a:xfrm>
        </p:grpSpPr>
        <p:sp>
          <p:nvSpPr>
            <p:cNvPr id="7" name="Freeform 7"/>
            <p:cNvSpPr/>
            <p:nvPr/>
          </p:nvSpPr>
          <p:spPr>
            <a:xfrm>
              <a:off x="0" y="0"/>
              <a:ext cx="8779930" cy="402934"/>
            </a:xfrm>
            <a:custGeom>
              <a:avLst/>
              <a:gdLst/>
              <a:ahLst/>
              <a:cxnLst/>
              <a:rect l="l" t="t" r="r" b="b"/>
              <a:pathLst>
                <a:path w="8779930" h="402934">
                  <a:moveTo>
                    <a:pt x="0" y="0"/>
                  </a:moveTo>
                  <a:lnTo>
                    <a:pt x="8779930" y="0"/>
                  </a:lnTo>
                  <a:lnTo>
                    <a:pt x="8779930" y="402934"/>
                  </a:lnTo>
                  <a:lnTo>
                    <a:pt x="0" y="402934"/>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8" name="TextBox 8"/>
            <p:cNvSpPr txBox="1"/>
            <p:nvPr/>
          </p:nvSpPr>
          <p:spPr>
            <a:xfrm>
              <a:off x="0" y="38100"/>
              <a:ext cx="8779930" cy="364834"/>
            </a:xfrm>
            <a:prstGeom prst="rect">
              <a:avLst/>
            </a:prstGeom>
          </p:spPr>
          <p:txBody>
            <a:bodyPr lIns="50800" tIns="50800" rIns="50800" bIns="50800" rtlCol="0" anchor="ctr"/>
            <a:lstStyle/>
            <a:p>
              <a:pPr algn="ctr">
                <a:lnSpc>
                  <a:spcPts val="2473"/>
                </a:lnSpc>
              </a:pPr>
              <a:endParaRPr/>
            </a:p>
          </p:txBody>
        </p:sp>
      </p:grpSp>
      <p:sp>
        <p:nvSpPr>
          <p:cNvPr id="9" name="TextBox 9"/>
          <p:cNvSpPr txBox="1"/>
          <p:nvPr/>
        </p:nvSpPr>
        <p:spPr>
          <a:xfrm>
            <a:off x="3759069" y="2492801"/>
            <a:ext cx="10769861" cy="1173820"/>
          </a:xfrm>
          <a:prstGeom prst="rect">
            <a:avLst/>
          </a:prstGeom>
        </p:spPr>
        <p:txBody>
          <a:bodyPr lIns="0" tIns="0" rIns="0" bIns="0" rtlCol="0" anchor="t">
            <a:spAutoFit/>
          </a:bodyPr>
          <a:lstStyle/>
          <a:p>
            <a:pPr algn="l">
              <a:lnSpc>
                <a:spcPts val="8919"/>
              </a:lnSpc>
              <a:spcBef>
                <a:spcPct val="0"/>
              </a:spcBef>
            </a:pPr>
            <a:r>
              <a:rPr lang="en-US" sz="8414">
                <a:solidFill>
                  <a:srgbClr val="FFFFFF"/>
                </a:solidFill>
                <a:latin typeface="Anton"/>
                <a:ea typeface="Anton"/>
                <a:cs typeface="Anton"/>
                <a:sym typeface="Anton"/>
              </a:rPr>
              <a:t>Risk &amp; Severity Analysis</a:t>
            </a:r>
          </a:p>
        </p:txBody>
      </p:sp>
      <p:sp>
        <p:nvSpPr>
          <p:cNvPr id="10" name="Freeform 10"/>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3"/>
            <a:stretch>
              <a:fillRect/>
            </a:stretch>
          </a:blipFill>
        </p:spPr>
        <p:txBody>
          <a:bodyPr/>
          <a:lstStyle/>
          <a:p>
            <a:endParaRPr lang="ar-EG"/>
          </a:p>
        </p:txBody>
      </p:sp>
      <p:sp>
        <p:nvSpPr>
          <p:cNvPr id="11" name="Freeform 11"/>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4"/>
            <a:stretch>
              <a:fillRect r="-2988"/>
            </a:stretch>
          </a:blipFill>
        </p:spPr>
        <p:txBody>
          <a:bodyPr/>
          <a:lstStyle/>
          <a:p>
            <a:endParaRPr lang="ar-EG"/>
          </a:p>
        </p:txBody>
      </p:sp>
      <p:sp>
        <p:nvSpPr>
          <p:cNvPr id="12" name="Freeform 12"/>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3" name="Group 13"/>
          <p:cNvGrpSpPr/>
          <p:nvPr/>
        </p:nvGrpSpPr>
        <p:grpSpPr>
          <a:xfrm>
            <a:off x="8858890" y="7234318"/>
            <a:ext cx="5614164" cy="2831108"/>
            <a:chOff x="0" y="0"/>
            <a:chExt cx="971819" cy="490068"/>
          </a:xfrm>
        </p:grpSpPr>
        <p:sp>
          <p:nvSpPr>
            <p:cNvPr id="14" name="Freeform 14"/>
            <p:cNvSpPr/>
            <p:nvPr/>
          </p:nvSpPr>
          <p:spPr>
            <a:xfrm>
              <a:off x="0" y="0"/>
              <a:ext cx="971819" cy="490068"/>
            </a:xfrm>
            <a:custGeom>
              <a:avLst/>
              <a:gdLst/>
              <a:ahLst/>
              <a:cxnLst/>
              <a:rect l="l" t="t" r="r" b="b"/>
              <a:pathLst>
                <a:path w="971819" h="490068">
                  <a:moveTo>
                    <a:pt x="0" y="0"/>
                  </a:moveTo>
                  <a:lnTo>
                    <a:pt x="971819" y="0"/>
                  </a:lnTo>
                  <a:lnTo>
                    <a:pt x="971819" y="490068"/>
                  </a:lnTo>
                  <a:lnTo>
                    <a:pt x="0" y="490068"/>
                  </a:lnTo>
                  <a:close/>
                </a:path>
              </a:pathLst>
            </a:custGeom>
            <a:blipFill>
              <a:blip r:embed="rId6"/>
              <a:stretch>
                <a:fillRect t="-1153" b="-1153"/>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grpSp>
        <p:nvGrpSpPr>
          <p:cNvPr id="15" name="Group 15"/>
          <p:cNvGrpSpPr/>
          <p:nvPr/>
        </p:nvGrpSpPr>
        <p:grpSpPr>
          <a:xfrm>
            <a:off x="6079453" y="4011342"/>
            <a:ext cx="5253144" cy="3003901"/>
            <a:chOff x="0" y="0"/>
            <a:chExt cx="975781" cy="557980"/>
          </a:xfrm>
        </p:grpSpPr>
        <p:sp>
          <p:nvSpPr>
            <p:cNvPr id="16" name="Freeform 16"/>
            <p:cNvSpPr/>
            <p:nvPr/>
          </p:nvSpPr>
          <p:spPr>
            <a:xfrm>
              <a:off x="0" y="0"/>
              <a:ext cx="975781" cy="557980"/>
            </a:xfrm>
            <a:custGeom>
              <a:avLst/>
              <a:gdLst/>
              <a:ahLst/>
              <a:cxnLst/>
              <a:rect l="l" t="t" r="r" b="b"/>
              <a:pathLst>
                <a:path w="975781" h="557980">
                  <a:moveTo>
                    <a:pt x="0" y="0"/>
                  </a:moveTo>
                  <a:lnTo>
                    <a:pt x="975781" y="0"/>
                  </a:lnTo>
                  <a:lnTo>
                    <a:pt x="975781" y="557980"/>
                  </a:lnTo>
                  <a:lnTo>
                    <a:pt x="0" y="557980"/>
                  </a:lnTo>
                  <a:close/>
                </a:path>
              </a:pathLst>
            </a:custGeom>
            <a:blipFill>
              <a:blip r:embed="rId7"/>
              <a:stretch>
                <a:fillRect l="-9225" r="-9225"/>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grpSp>
        <p:nvGrpSpPr>
          <p:cNvPr id="17" name="Group 17"/>
          <p:cNvGrpSpPr/>
          <p:nvPr/>
        </p:nvGrpSpPr>
        <p:grpSpPr>
          <a:xfrm>
            <a:off x="11665972" y="4011342"/>
            <a:ext cx="5933335" cy="3003901"/>
            <a:chOff x="0" y="0"/>
            <a:chExt cx="902691" cy="457010"/>
          </a:xfrm>
        </p:grpSpPr>
        <p:sp>
          <p:nvSpPr>
            <p:cNvPr id="18" name="Freeform 18"/>
            <p:cNvSpPr/>
            <p:nvPr/>
          </p:nvSpPr>
          <p:spPr>
            <a:xfrm>
              <a:off x="0" y="0"/>
              <a:ext cx="902691" cy="457010"/>
            </a:xfrm>
            <a:custGeom>
              <a:avLst/>
              <a:gdLst/>
              <a:ahLst/>
              <a:cxnLst/>
              <a:rect l="l" t="t" r="r" b="b"/>
              <a:pathLst>
                <a:path w="902691" h="457010">
                  <a:moveTo>
                    <a:pt x="0" y="0"/>
                  </a:moveTo>
                  <a:lnTo>
                    <a:pt x="902691" y="0"/>
                  </a:lnTo>
                  <a:lnTo>
                    <a:pt x="902691" y="457010"/>
                  </a:lnTo>
                  <a:lnTo>
                    <a:pt x="0" y="457010"/>
                  </a:lnTo>
                  <a:close/>
                </a:path>
              </a:pathLst>
            </a:custGeom>
            <a:blipFill>
              <a:blip r:embed="rId8"/>
              <a:stretch>
                <a:fillRect t="-4002" b="-4002"/>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sp>
        <p:nvSpPr>
          <p:cNvPr id="19" name="TextBox 19"/>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11</a:t>
            </a:r>
          </a:p>
        </p:txBody>
      </p:sp>
      <p:grpSp>
        <p:nvGrpSpPr>
          <p:cNvPr id="20" name="Group 20"/>
          <p:cNvGrpSpPr/>
          <p:nvPr/>
        </p:nvGrpSpPr>
        <p:grpSpPr>
          <a:xfrm>
            <a:off x="623835" y="5017062"/>
            <a:ext cx="5122243" cy="3996362"/>
            <a:chOff x="0" y="0"/>
            <a:chExt cx="1349068" cy="1052540"/>
          </a:xfrm>
        </p:grpSpPr>
        <p:sp>
          <p:nvSpPr>
            <p:cNvPr id="21" name="Freeform 21"/>
            <p:cNvSpPr/>
            <p:nvPr/>
          </p:nvSpPr>
          <p:spPr>
            <a:xfrm>
              <a:off x="0" y="0"/>
              <a:ext cx="1349068" cy="1052540"/>
            </a:xfrm>
            <a:custGeom>
              <a:avLst/>
              <a:gdLst/>
              <a:ahLst/>
              <a:cxnLst/>
              <a:rect l="l" t="t" r="r" b="b"/>
              <a:pathLst>
                <a:path w="1349068" h="1052540">
                  <a:moveTo>
                    <a:pt x="0" y="0"/>
                  </a:moveTo>
                  <a:lnTo>
                    <a:pt x="1349068" y="0"/>
                  </a:lnTo>
                  <a:lnTo>
                    <a:pt x="1349068" y="1052540"/>
                  </a:lnTo>
                  <a:lnTo>
                    <a:pt x="0" y="1052540"/>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22" name="TextBox 22"/>
            <p:cNvSpPr txBox="1"/>
            <p:nvPr/>
          </p:nvSpPr>
          <p:spPr>
            <a:xfrm>
              <a:off x="0" y="38100"/>
              <a:ext cx="1349068" cy="1014440"/>
            </a:xfrm>
            <a:prstGeom prst="rect">
              <a:avLst/>
            </a:prstGeom>
          </p:spPr>
          <p:txBody>
            <a:bodyPr lIns="50800" tIns="50800" rIns="50800" bIns="50800" rtlCol="0" anchor="ctr"/>
            <a:lstStyle/>
            <a:p>
              <a:pPr algn="ctr">
                <a:lnSpc>
                  <a:spcPts val="2473"/>
                </a:lnSpc>
              </a:pPr>
              <a:endParaRPr/>
            </a:p>
          </p:txBody>
        </p:sp>
      </p:grpSp>
      <p:sp>
        <p:nvSpPr>
          <p:cNvPr id="23" name="TextBox 23"/>
          <p:cNvSpPr txBox="1"/>
          <p:nvPr/>
        </p:nvSpPr>
        <p:spPr>
          <a:xfrm>
            <a:off x="769753" y="5222542"/>
            <a:ext cx="4976325" cy="3518728"/>
          </a:xfrm>
          <a:prstGeom prst="rect">
            <a:avLst/>
          </a:prstGeom>
        </p:spPr>
        <p:txBody>
          <a:bodyPr lIns="0" tIns="0" rIns="0" bIns="0" rtlCol="0" anchor="t">
            <a:spAutoFit/>
          </a:bodyPr>
          <a:lstStyle/>
          <a:p>
            <a:pPr algn="l">
              <a:lnSpc>
                <a:spcPts val="3519"/>
              </a:lnSpc>
            </a:pPr>
            <a:r>
              <a:rPr lang="en-US" sz="2513" b="1">
                <a:solidFill>
                  <a:srgbClr val="FFFFFF"/>
                </a:solidFill>
                <a:latin typeface="Raleway Bold"/>
                <a:ea typeface="Raleway Bold"/>
                <a:cs typeface="Raleway Bold"/>
                <a:sym typeface="Raleway Bold"/>
              </a:rPr>
              <a:t>"Although most events are categorized as low or medium severity, repeated attack frequency creates significant operational risk and increases the likelihood of future compromise attempts."</a:t>
            </a:r>
          </a:p>
          <a:p>
            <a:pPr algn="l">
              <a:lnSpc>
                <a:spcPts val="3519"/>
              </a:lnSpc>
              <a:spcBef>
                <a:spcPct val="0"/>
              </a:spcBef>
            </a:pPr>
            <a:endParaRPr lang="en-US" sz="2513" b="1">
              <a:solidFill>
                <a:srgbClr val="FFFFFF"/>
              </a:solidFill>
              <a:latin typeface="Raleway Bold"/>
              <a:ea typeface="Raleway Bold"/>
              <a:cs typeface="Raleway Bold"/>
              <a:sym typeface="Raleway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7671729" y="2004339"/>
            <a:ext cx="27740609" cy="1629149"/>
            <a:chOff x="0" y="0"/>
            <a:chExt cx="7306169" cy="429076"/>
          </a:xfrm>
        </p:grpSpPr>
        <p:sp>
          <p:nvSpPr>
            <p:cNvPr id="7" name="Freeform 7"/>
            <p:cNvSpPr/>
            <p:nvPr/>
          </p:nvSpPr>
          <p:spPr>
            <a:xfrm>
              <a:off x="0" y="0"/>
              <a:ext cx="7306169" cy="429076"/>
            </a:xfrm>
            <a:custGeom>
              <a:avLst/>
              <a:gdLst/>
              <a:ahLst/>
              <a:cxnLst/>
              <a:rect l="l" t="t" r="r" b="b"/>
              <a:pathLst>
                <a:path w="7306169" h="429076">
                  <a:moveTo>
                    <a:pt x="0" y="0"/>
                  </a:moveTo>
                  <a:lnTo>
                    <a:pt x="7306169" y="0"/>
                  </a:lnTo>
                  <a:lnTo>
                    <a:pt x="7306169" y="429076"/>
                  </a:lnTo>
                  <a:lnTo>
                    <a:pt x="0" y="429076"/>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8" name="TextBox 8"/>
            <p:cNvSpPr txBox="1"/>
            <p:nvPr/>
          </p:nvSpPr>
          <p:spPr>
            <a:xfrm>
              <a:off x="0" y="38100"/>
              <a:ext cx="7306169" cy="390976"/>
            </a:xfrm>
            <a:prstGeom prst="rect">
              <a:avLst/>
            </a:prstGeom>
          </p:spPr>
          <p:txBody>
            <a:bodyPr lIns="50800" tIns="50800" rIns="50800" bIns="50800" rtlCol="0" anchor="ctr"/>
            <a:lstStyle/>
            <a:p>
              <a:pPr algn="ctr">
                <a:lnSpc>
                  <a:spcPts val="2473"/>
                </a:lnSpc>
              </a:pPr>
              <a:endParaRPr/>
            </a:p>
          </p:txBody>
        </p:sp>
      </p:grpSp>
      <p:sp>
        <p:nvSpPr>
          <p:cNvPr id="9" name="TextBox 9"/>
          <p:cNvSpPr txBox="1"/>
          <p:nvPr/>
        </p:nvSpPr>
        <p:spPr>
          <a:xfrm>
            <a:off x="3075622" y="2286906"/>
            <a:ext cx="13017002" cy="1168791"/>
          </a:xfrm>
          <a:prstGeom prst="rect">
            <a:avLst/>
          </a:prstGeom>
        </p:spPr>
        <p:txBody>
          <a:bodyPr lIns="0" tIns="0" rIns="0" bIns="0" rtlCol="0" anchor="t">
            <a:spAutoFit/>
          </a:bodyPr>
          <a:lstStyle/>
          <a:p>
            <a:pPr algn="ctr">
              <a:lnSpc>
                <a:spcPts val="8919"/>
              </a:lnSpc>
              <a:spcBef>
                <a:spcPct val="0"/>
              </a:spcBef>
            </a:pPr>
            <a:r>
              <a:rPr lang="en-US" sz="8414">
                <a:solidFill>
                  <a:srgbClr val="FFFFFF"/>
                </a:solidFill>
                <a:latin typeface="Anton"/>
                <a:ea typeface="Anton"/>
                <a:cs typeface="Anton"/>
                <a:sym typeface="Anton"/>
              </a:rPr>
              <a:t>DETECTION &amp; RESPONSE ANALYSIS</a:t>
            </a:r>
          </a:p>
        </p:txBody>
      </p:sp>
      <p:sp>
        <p:nvSpPr>
          <p:cNvPr id="10" name="Freeform 10"/>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3"/>
            <a:stretch>
              <a:fillRect/>
            </a:stretch>
          </a:blipFill>
        </p:spPr>
        <p:txBody>
          <a:bodyPr/>
          <a:lstStyle/>
          <a:p>
            <a:endParaRPr lang="ar-EG"/>
          </a:p>
        </p:txBody>
      </p:sp>
      <p:sp>
        <p:nvSpPr>
          <p:cNvPr id="11" name="Freeform 11"/>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4"/>
            <a:stretch>
              <a:fillRect r="-2988"/>
            </a:stretch>
          </a:blipFill>
        </p:spPr>
        <p:txBody>
          <a:bodyPr/>
          <a:lstStyle/>
          <a:p>
            <a:endParaRPr lang="ar-EG"/>
          </a:p>
        </p:txBody>
      </p:sp>
      <p:sp>
        <p:nvSpPr>
          <p:cNvPr id="12" name="Freeform 12"/>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3" name="Group 13"/>
          <p:cNvGrpSpPr/>
          <p:nvPr/>
        </p:nvGrpSpPr>
        <p:grpSpPr>
          <a:xfrm>
            <a:off x="12733685" y="4152166"/>
            <a:ext cx="5313683" cy="4160997"/>
            <a:chOff x="0" y="0"/>
            <a:chExt cx="579487" cy="453780"/>
          </a:xfrm>
        </p:grpSpPr>
        <p:sp>
          <p:nvSpPr>
            <p:cNvPr id="14" name="Freeform 14"/>
            <p:cNvSpPr/>
            <p:nvPr/>
          </p:nvSpPr>
          <p:spPr>
            <a:xfrm>
              <a:off x="0" y="0"/>
              <a:ext cx="579487" cy="453780"/>
            </a:xfrm>
            <a:custGeom>
              <a:avLst/>
              <a:gdLst/>
              <a:ahLst/>
              <a:cxnLst/>
              <a:rect l="l" t="t" r="r" b="b"/>
              <a:pathLst>
                <a:path w="579487" h="453780">
                  <a:moveTo>
                    <a:pt x="0" y="0"/>
                  </a:moveTo>
                  <a:lnTo>
                    <a:pt x="579487" y="0"/>
                  </a:lnTo>
                  <a:lnTo>
                    <a:pt x="579487" y="453780"/>
                  </a:lnTo>
                  <a:lnTo>
                    <a:pt x="0" y="453780"/>
                  </a:lnTo>
                  <a:close/>
                </a:path>
              </a:pathLst>
            </a:custGeom>
            <a:blipFill>
              <a:blip r:embed="rId6"/>
              <a:stretch>
                <a:fillRect l="-19318" r="-19318"/>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grpSp>
        <p:nvGrpSpPr>
          <p:cNvPr id="15" name="Group 15"/>
          <p:cNvGrpSpPr/>
          <p:nvPr/>
        </p:nvGrpSpPr>
        <p:grpSpPr>
          <a:xfrm>
            <a:off x="5862050" y="4224576"/>
            <a:ext cx="6500384" cy="4088588"/>
            <a:chOff x="0" y="0"/>
            <a:chExt cx="936769" cy="589205"/>
          </a:xfrm>
        </p:grpSpPr>
        <p:sp>
          <p:nvSpPr>
            <p:cNvPr id="16" name="Freeform 16"/>
            <p:cNvSpPr/>
            <p:nvPr/>
          </p:nvSpPr>
          <p:spPr>
            <a:xfrm>
              <a:off x="0" y="0"/>
              <a:ext cx="936769" cy="589205"/>
            </a:xfrm>
            <a:custGeom>
              <a:avLst/>
              <a:gdLst/>
              <a:ahLst/>
              <a:cxnLst/>
              <a:rect l="l" t="t" r="r" b="b"/>
              <a:pathLst>
                <a:path w="936769" h="589205">
                  <a:moveTo>
                    <a:pt x="0" y="0"/>
                  </a:moveTo>
                  <a:lnTo>
                    <a:pt x="936769" y="0"/>
                  </a:lnTo>
                  <a:lnTo>
                    <a:pt x="936769" y="589205"/>
                  </a:lnTo>
                  <a:lnTo>
                    <a:pt x="0" y="589205"/>
                  </a:lnTo>
                  <a:close/>
                </a:path>
              </a:pathLst>
            </a:custGeom>
            <a:blipFill>
              <a:blip r:embed="rId7"/>
              <a:stretch>
                <a:fillRect l="-9709" r="-9709"/>
              </a:stretch>
            </a:blipFill>
            <a:ln w="38100" cap="sq">
              <a:gradFill>
                <a:gsLst>
                  <a:gs pos="0">
                    <a:srgbClr val="45DEEF">
                      <a:alpha val="100000"/>
                    </a:srgbClr>
                  </a:gs>
                  <a:gs pos="100000">
                    <a:srgbClr val="0074AD">
                      <a:alpha val="6500"/>
                    </a:srgbClr>
                  </a:gs>
                </a:gsLst>
                <a:lin ang="0"/>
              </a:gradFill>
              <a:prstDash val="solid"/>
              <a:miter/>
            </a:ln>
          </p:spPr>
          <p:txBody>
            <a:bodyPr/>
            <a:lstStyle/>
            <a:p>
              <a:endParaRPr lang="ar-EG"/>
            </a:p>
          </p:txBody>
        </p:sp>
      </p:grpSp>
      <p:sp>
        <p:nvSpPr>
          <p:cNvPr id="17" name="TextBox 17"/>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12</a:t>
            </a:r>
          </a:p>
        </p:txBody>
      </p:sp>
      <p:grpSp>
        <p:nvGrpSpPr>
          <p:cNvPr id="18" name="Group 18"/>
          <p:cNvGrpSpPr/>
          <p:nvPr/>
        </p:nvGrpSpPr>
        <p:grpSpPr>
          <a:xfrm>
            <a:off x="543352" y="4243088"/>
            <a:ext cx="4947223" cy="4383715"/>
            <a:chOff x="0" y="0"/>
            <a:chExt cx="1302972" cy="1154559"/>
          </a:xfrm>
        </p:grpSpPr>
        <p:sp>
          <p:nvSpPr>
            <p:cNvPr id="19" name="Freeform 19"/>
            <p:cNvSpPr/>
            <p:nvPr/>
          </p:nvSpPr>
          <p:spPr>
            <a:xfrm>
              <a:off x="0" y="0"/>
              <a:ext cx="1302972" cy="1154559"/>
            </a:xfrm>
            <a:custGeom>
              <a:avLst/>
              <a:gdLst/>
              <a:ahLst/>
              <a:cxnLst/>
              <a:rect l="l" t="t" r="r" b="b"/>
              <a:pathLst>
                <a:path w="1302972" h="1154559">
                  <a:moveTo>
                    <a:pt x="0" y="0"/>
                  </a:moveTo>
                  <a:lnTo>
                    <a:pt x="1302972" y="0"/>
                  </a:lnTo>
                  <a:lnTo>
                    <a:pt x="1302972" y="1154559"/>
                  </a:lnTo>
                  <a:lnTo>
                    <a:pt x="0" y="1154559"/>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20" name="TextBox 20"/>
            <p:cNvSpPr txBox="1"/>
            <p:nvPr/>
          </p:nvSpPr>
          <p:spPr>
            <a:xfrm>
              <a:off x="0" y="38100"/>
              <a:ext cx="1302972" cy="1116459"/>
            </a:xfrm>
            <a:prstGeom prst="rect">
              <a:avLst/>
            </a:prstGeom>
          </p:spPr>
          <p:txBody>
            <a:bodyPr lIns="50800" tIns="50800" rIns="50800" bIns="50800" rtlCol="0" anchor="ctr"/>
            <a:lstStyle/>
            <a:p>
              <a:pPr algn="ctr">
                <a:lnSpc>
                  <a:spcPts val="2473"/>
                </a:lnSpc>
              </a:pPr>
              <a:endParaRPr/>
            </a:p>
          </p:txBody>
        </p:sp>
      </p:grpSp>
      <p:sp>
        <p:nvSpPr>
          <p:cNvPr id="21" name="TextBox 21"/>
          <p:cNvSpPr txBox="1"/>
          <p:nvPr/>
        </p:nvSpPr>
        <p:spPr>
          <a:xfrm>
            <a:off x="819864" y="4405837"/>
            <a:ext cx="4394198" cy="3937736"/>
          </a:xfrm>
          <a:prstGeom prst="rect">
            <a:avLst/>
          </a:prstGeom>
        </p:spPr>
        <p:txBody>
          <a:bodyPr lIns="0" tIns="0" rIns="0" bIns="0" rtlCol="0" anchor="t">
            <a:spAutoFit/>
          </a:bodyPr>
          <a:lstStyle/>
          <a:p>
            <a:pPr algn="l">
              <a:lnSpc>
                <a:spcPts val="3459"/>
              </a:lnSpc>
            </a:pPr>
            <a:r>
              <a:rPr lang="en-US" sz="2471" b="1">
                <a:solidFill>
                  <a:srgbClr val="FFFFFF"/>
                </a:solidFill>
                <a:latin typeface="Raleway Bold"/>
                <a:ea typeface="Raleway Bold"/>
                <a:cs typeface="Raleway Bold"/>
                <a:sym typeface="Raleway Bold"/>
              </a:rPr>
              <a:t>"The firewall represents the primary defense layer across the environment. However, ignored events highlight potential blind spots that may require further rule tuning and monitoring improvements."</a:t>
            </a:r>
          </a:p>
          <a:p>
            <a:pPr algn="l">
              <a:lnSpc>
                <a:spcPts val="3459"/>
              </a:lnSpc>
              <a:spcBef>
                <a:spcPct val="0"/>
              </a:spcBef>
            </a:pPr>
            <a:endParaRPr lang="en-US" sz="2471" b="1">
              <a:solidFill>
                <a:srgbClr val="FFFFFF"/>
              </a:solidFill>
              <a:latin typeface="Raleway Bold"/>
              <a:ea typeface="Raleway Bold"/>
              <a:cs typeface="Raleway Bold"/>
              <a:sym typeface="Raleway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11996079" y="2182140"/>
            <a:ext cx="21757266" cy="7076160"/>
            <a:chOff x="0" y="0"/>
            <a:chExt cx="5730309" cy="1863680"/>
          </a:xfrm>
        </p:grpSpPr>
        <p:sp>
          <p:nvSpPr>
            <p:cNvPr id="7" name="Freeform 7"/>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8" name="TextBox 8"/>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9" name="Group 9"/>
          <p:cNvGrpSpPr>
            <a:grpSpLocks noChangeAspect="1"/>
          </p:cNvGrpSpPr>
          <p:nvPr/>
        </p:nvGrpSpPr>
        <p:grpSpPr>
          <a:xfrm>
            <a:off x="9925249" y="3629410"/>
            <a:ext cx="7651735" cy="4388943"/>
            <a:chOff x="0" y="0"/>
            <a:chExt cx="7981950" cy="4578350"/>
          </a:xfrm>
        </p:grpSpPr>
        <p:sp>
          <p:nvSpPr>
            <p:cNvPr id="10" name="Freeform 10"/>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txBody>
            <a:bodyPr/>
            <a:lstStyle/>
            <a:p>
              <a:endParaRPr lang="ar-EG"/>
            </a:p>
          </p:txBody>
        </p:sp>
        <p:sp>
          <p:nvSpPr>
            <p:cNvPr id="11" name="Freeform 11"/>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txBody>
            <a:bodyPr/>
            <a:lstStyle/>
            <a:p>
              <a:endParaRPr lang="ar-EG"/>
            </a:p>
          </p:txBody>
        </p:sp>
        <p:sp>
          <p:nvSpPr>
            <p:cNvPr id="12" name="Freeform 12"/>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txBody>
            <a:bodyPr/>
            <a:lstStyle/>
            <a:p>
              <a:endParaRPr lang="ar-EG"/>
            </a:p>
          </p:txBody>
        </p:sp>
        <p:sp>
          <p:nvSpPr>
            <p:cNvPr id="13" name="Freeform 13"/>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txBody>
            <a:bodyPr/>
            <a:lstStyle/>
            <a:p>
              <a:endParaRPr lang="ar-EG"/>
            </a:p>
          </p:txBody>
        </p:sp>
        <p:sp>
          <p:nvSpPr>
            <p:cNvPr id="14" name="Freeform 14"/>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3"/>
              <a:stretch>
                <a:fillRect l="-46997" t="-7305" r="-47018" b="-13505"/>
              </a:stretch>
            </a:blipFill>
          </p:spPr>
          <p:txBody>
            <a:bodyPr/>
            <a:lstStyle/>
            <a:p>
              <a:endParaRPr lang="ar-EG"/>
            </a:p>
          </p:txBody>
        </p:sp>
      </p:grpSp>
      <p:grpSp>
        <p:nvGrpSpPr>
          <p:cNvPr id="15" name="Group 15"/>
          <p:cNvGrpSpPr/>
          <p:nvPr/>
        </p:nvGrpSpPr>
        <p:grpSpPr>
          <a:xfrm>
            <a:off x="16190187" y="2200516"/>
            <a:ext cx="1227956" cy="1428894"/>
            <a:chOff x="0" y="0"/>
            <a:chExt cx="698500" cy="812800"/>
          </a:xfrm>
        </p:grpSpPr>
        <p:sp>
          <p:nvSpPr>
            <p:cNvPr id="16" name="Freeform 1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17" name="TextBox 17"/>
            <p:cNvSpPr txBox="1"/>
            <p:nvPr/>
          </p:nvSpPr>
          <p:spPr>
            <a:xfrm>
              <a:off x="0" y="92075"/>
              <a:ext cx="698500" cy="581025"/>
            </a:xfrm>
            <a:prstGeom prst="rect">
              <a:avLst/>
            </a:prstGeom>
          </p:spPr>
          <p:txBody>
            <a:bodyPr lIns="50800" tIns="50800" rIns="50800" bIns="50800" rtlCol="0" anchor="ctr"/>
            <a:lstStyle/>
            <a:p>
              <a:pPr algn="ctr">
                <a:lnSpc>
                  <a:spcPts val="2212"/>
                </a:lnSpc>
              </a:pPr>
              <a:endParaRPr/>
            </a:p>
          </p:txBody>
        </p:sp>
      </p:grpSp>
      <p:sp>
        <p:nvSpPr>
          <p:cNvPr id="18" name="TextBox 18"/>
          <p:cNvSpPr txBox="1"/>
          <p:nvPr/>
        </p:nvSpPr>
        <p:spPr>
          <a:xfrm>
            <a:off x="16656616" y="9872467"/>
            <a:ext cx="1316589"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13</a:t>
            </a:r>
          </a:p>
        </p:txBody>
      </p:sp>
      <p:sp>
        <p:nvSpPr>
          <p:cNvPr id="19" name="Freeform 19"/>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4"/>
            <a:stretch>
              <a:fillRect/>
            </a:stretch>
          </a:blipFill>
        </p:spPr>
        <p:txBody>
          <a:bodyPr/>
          <a:lstStyle/>
          <a:p>
            <a:endParaRPr lang="ar-EG"/>
          </a:p>
        </p:txBody>
      </p:sp>
      <p:sp>
        <p:nvSpPr>
          <p:cNvPr id="20" name="Freeform 20"/>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5"/>
            <a:stretch>
              <a:fillRect r="-2988"/>
            </a:stretch>
          </a:blipFill>
        </p:spPr>
        <p:txBody>
          <a:bodyPr/>
          <a:lstStyle/>
          <a:p>
            <a:endParaRPr lang="ar-EG"/>
          </a:p>
        </p:txBody>
      </p:sp>
      <p:sp>
        <p:nvSpPr>
          <p:cNvPr id="21" name="Freeform 21"/>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pic>
        <p:nvPicPr>
          <p:cNvPr id="24" name="Picture 23">
            <a:extLst>
              <a:ext uri="{FF2B5EF4-FFF2-40B4-BE49-F238E27FC236}">
                <a16:creationId xmlns:a16="http://schemas.microsoft.com/office/drawing/2014/main" id="{047F058A-AE62-89DD-F0AA-88030763E691}"/>
              </a:ext>
            </a:extLst>
          </p:cNvPr>
          <p:cNvPicPr>
            <a:picLocks noChangeAspect="1"/>
          </p:cNvPicPr>
          <p:nvPr/>
        </p:nvPicPr>
        <p:blipFill>
          <a:blip r:embed="rId7" cstate="print">
            <a:extLst>
              <a:ext uri="{28A0092B-C50C-407E-A947-70E740481C1C}">
                <a14:useLocalDpi xmlns:a14="http://schemas.microsoft.com/office/drawing/2010/main" val="0"/>
              </a:ext>
            </a:extLst>
          </a:blip>
          <a:srcRect l="18137" t="1836" r="4362" b="-1836"/>
          <a:stretch>
            <a:fillRect/>
          </a:stretch>
        </p:blipFill>
        <p:spPr>
          <a:xfrm>
            <a:off x="10747496" y="3836784"/>
            <a:ext cx="5905435" cy="3739145"/>
          </a:xfrm>
          <a:prstGeom prst="rect">
            <a:avLst/>
          </a:prstGeom>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23" name="Add-in 22" title="Microsoft Power BI">
                <a:extLst>
                  <a:ext uri="{FF2B5EF4-FFF2-40B4-BE49-F238E27FC236}">
                    <a16:creationId xmlns:a16="http://schemas.microsoft.com/office/drawing/2014/main" id="{046A27FF-FAFD-9DA8-66FA-90E9C8924A43}"/>
                  </a:ext>
                </a:extLst>
              </p:cNvPr>
              <p:cNvGraphicFramePr>
                <a:graphicFrameLocks noGrp="1"/>
              </p:cNvGraphicFramePr>
              <p:nvPr>
                <p:extLst>
                  <p:ext uri="{D42A27DB-BD31-4B8C-83A1-F6EECF244321}">
                    <p14:modId xmlns:p14="http://schemas.microsoft.com/office/powerpoint/2010/main" val="926573934"/>
                  </p:ext>
                </p:extLst>
              </p:nvPr>
            </p:nvGraphicFramePr>
            <p:xfrm>
              <a:off x="87545" y="2848856"/>
              <a:ext cx="9525000" cy="5715000"/>
            </p:xfrm>
            <a:graphic>
              <a:graphicData uri="http://schemas.microsoft.com/office/webextensions/webextension/2010/11">
                <we:webextensionref xmlns:we="http://schemas.microsoft.com/office/webextensions/webextension/2010/11" xmlns:r="http://schemas.openxmlformats.org/officeDocument/2006/relationships" r:id="rId8"/>
              </a:graphicData>
            </a:graphic>
          </p:graphicFrame>
        </mc:Choice>
        <mc:Fallback>
          <p:pic>
            <p:nvPicPr>
              <p:cNvPr id="23" name="Add-in 22" title="Microsoft Power BI">
                <a:extLst>
                  <a:ext uri="{FF2B5EF4-FFF2-40B4-BE49-F238E27FC236}">
                    <a16:creationId xmlns:a16="http://schemas.microsoft.com/office/drawing/2014/main" id="{046A27FF-FAFD-9DA8-66FA-90E9C8924A43}"/>
                  </a:ext>
                </a:extLst>
              </p:cNvPr>
              <p:cNvPicPr>
                <a:picLocks noGrp="1" noRot="1" noChangeAspect="1" noMove="1" noResize="1" noEditPoints="1" noAdjustHandles="1" noChangeArrowheads="1" noChangeShapeType="1"/>
              </p:cNvPicPr>
              <p:nvPr/>
            </p:nvPicPr>
            <p:blipFill>
              <a:blip r:embed="rId9"/>
              <a:stretch>
                <a:fillRect/>
              </a:stretch>
            </p:blipFill>
            <p:spPr>
              <a:xfrm>
                <a:off x="87545" y="2848856"/>
                <a:ext cx="9525000" cy="571500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11996079" y="2182140"/>
            <a:ext cx="21757266" cy="7076160"/>
            <a:chOff x="0" y="0"/>
            <a:chExt cx="5730309" cy="1863680"/>
          </a:xfrm>
        </p:grpSpPr>
        <p:sp>
          <p:nvSpPr>
            <p:cNvPr id="7" name="Freeform 7"/>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8" name="TextBox 8"/>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9" name="Group 9"/>
          <p:cNvGrpSpPr/>
          <p:nvPr/>
        </p:nvGrpSpPr>
        <p:grpSpPr>
          <a:xfrm>
            <a:off x="10879486" y="2339288"/>
            <a:ext cx="5442280" cy="6332835"/>
            <a:chOff x="0" y="0"/>
            <a:chExt cx="698500" cy="812800"/>
          </a:xfrm>
        </p:grpSpPr>
        <p:sp>
          <p:nvSpPr>
            <p:cNvPr id="10" name="Freeform 1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11" name="TextBox 11"/>
            <p:cNvSpPr txBox="1"/>
            <p:nvPr/>
          </p:nvSpPr>
          <p:spPr>
            <a:xfrm>
              <a:off x="0" y="92075"/>
              <a:ext cx="698500" cy="581025"/>
            </a:xfrm>
            <a:prstGeom prst="rect">
              <a:avLst/>
            </a:prstGeom>
          </p:spPr>
          <p:txBody>
            <a:bodyPr lIns="50800" tIns="50800" rIns="50800" bIns="50800" rtlCol="0" anchor="ctr"/>
            <a:lstStyle/>
            <a:p>
              <a:pPr algn="ctr">
                <a:lnSpc>
                  <a:spcPts val="2212"/>
                </a:lnSpc>
              </a:pPr>
              <a:endParaRPr/>
            </a:p>
          </p:txBody>
        </p:sp>
      </p:grpSp>
      <p:sp>
        <p:nvSpPr>
          <p:cNvPr id="12" name="Freeform 12"/>
          <p:cNvSpPr/>
          <p:nvPr/>
        </p:nvSpPr>
        <p:spPr>
          <a:xfrm>
            <a:off x="11726521" y="3340253"/>
            <a:ext cx="3748209" cy="4114800"/>
          </a:xfrm>
          <a:custGeom>
            <a:avLst/>
            <a:gdLst/>
            <a:ahLst/>
            <a:cxnLst/>
            <a:rect l="l" t="t" r="r" b="b"/>
            <a:pathLst>
              <a:path w="3748209" h="4114800">
                <a:moveTo>
                  <a:pt x="0" y="0"/>
                </a:moveTo>
                <a:lnTo>
                  <a:pt x="3748209" y="0"/>
                </a:lnTo>
                <a:lnTo>
                  <a:pt x="37482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13" name="TextBox 13"/>
          <p:cNvSpPr txBox="1"/>
          <p:nvPr/>
        </p:nvSpPr>
        <p:spPr>
          <a:xfrm>
            <a:off x="16656616" y="9872467"/>
            <a:ext cx="1316589"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14</a:t>
            </a:r>
          </a:p>
        </p:txBody>
      </p:sp>
      <p:sp>
        <p:nvSpPr>
          <p:cNvPr id="14" name="TextBox 14"/>
          <p:cNvSpPr txBox="1"/>
          <p:nvPr/>
        </p:nvSpPr>
        <p:spPr>
          <a:xfrm>
            <a:off x="1845362" y="2840654"/>
            <a:ext cx="8712746" cy="2302800"/>
          </a:xfrm>
          <a:prstGeom prst="rect">
            <a:avLst/>
          </a:prstGeom>
        </p:spPr>
        <p:txBody>
          <a:bodyPr lIns="0" tIns="0" rIns="0" bIns="0" rtlCol="0" anchor="t">
            <a:spAutoFit/>
          </a:bodyPr>
          <a:lstStyle/>
          <a:p>
            <a:pPr algn="l">
              <a:lnSpc>
                <a:spcPts val="8919"/>
              </a:lnSpc>
            </a:pPr>
            <a:r>
              <a:rPr lang="en-US" sz="8414">
                <a:solidFill>
                  <a:srgbClr val="FFFFFF"/>
                </a:solidFill>
                <a:latin typeface="Anton"/>
                <a:ea typeface="Anton"/>
                <a:cs typeface="Anton"/>
                <a:sym typeface="Anton"/>
              </a:rPr>
              <a:t>KEY FINDINGS</a:t>
            </a:r>
          </a:p>
          <a:p>
            <a:pPr algn="l">
              <a:lnSpc>
                <a:spcPts val="8919"/>
              </a:lnSpc>
              <a:spcBef>
                <a:spcPct val="0"/>
              </a:spcBef>
            </a:pPr>
            <a:endParaRPr lang="en-US" sz="8414">
              <a:solidFill>
                <a:srgbClr val="FFFFFF"/>
              </a:solidFill>
              <a:latin typeface="Anton"/>
              <a:ea typeface="Anton"/>
              <a:cs typeface="Anton"/>
              <a:sym typeface="Anton"/>
            </a:endParaRPr>
          </a:p>
        </p:txBody>
      </p:sp>
      <p:sp>
        <p:nvSpPr>
          <p:cNvPr id="15" name="TextBox 15"/>
          <p:cNvSpPr txBox="1"/>
          <p:nvPr/>
        </p:nvSpPr>
        <p:spPr>
          <a:xfrm>
            <a:off x="446476" y="4374601"/>
            <a:ext cx="9121011" cy="4630540"/>
          </a:xfrm>
          <a:prstGeom prst="rect">
            <a:avLst/>
          </a:prstGeom>
        </p:spPr>
        <p:txBody>
          <a:bodyPr lIns="0" tIns="0" rIns="0" bIns="0" rtlCol="0" anchor="t">
            <a:spAutoFit/>
          </a:bodyPr>
          <a:lstStyle/>
          <a:p>
            <a:pPr marL="635883" lvl="1" indent="-317941" algn="l">
              <a:lnSpc>
                <a:spcPts val="4123"/>
              </a:lnSpc>
              <a:buFont typeface="Arial"/>
              <a:buChar char="•"/>
            </a:pPr>
            <a:r>
              <a:rPr lang="en-US" sz="2945" b="1">
                <a:solidFill>
                  <a:srgbClr val="FFFFFF"/>
                </a:solidFill>
                <a:latin typeface="Raleway Bold"/>
                <a:ea typeface="Raleway Bold"/>
                <a:cs typeface="Raleway Bold"/>
                <a:sym typeface="Raleway Bold"/>
              </a:rPr>
              <a:t>Threats are highly concentrated in a few attack categories</a:t>
            </a:r>
          </a:p>
          <a:p>
            <a:pPr marL="635883" lvl="1" indent="-317941" algn="l">
              <a:lnSpc>
                <a:spcPts val="4123"/>
              </a:lnSpc>
              <a:buFont typeface="Arial"/>
              <a:buChar char="•"/>
            </a:pPr>
            <a:r>
              <a:rPr lang="en-US" sz="2945" b="1">
                <a:solidFill>
                  <a:srgbClr val="FFFFFF"/>
                </a:solidFill>
                <a:latin typeface="Raleway Bold"/>
                <a:ea typeface="Raleway Bold"/>
                <a:cs typeface="Raleway Bold"/>
                <a:sym typeface="Raleway Bold"/>
              </a:rPr>
              <a:t>Web services are the primary attack target</a:t>
            </a:r>
          </a:p>
          <a:p>
            <a:pPr marL="635883" lvl="1" indent="-317941" algn="l">
              <a:lnSpc>
                <a:spcPts val="4123"/>
              </a:lnSpc>
              <a:buFont typeface="Arial"/>
              <a:buChar char="•"/>
            </a:pPr>
            <a:r>
              <a:rPr lang="en-US" sz="2945" b="1">
                <a:solidFill>
                  <a:srgbClr val="FFFFFF"/>
                </a:solidFill>
                <a:latin typeface="Raleway Bold"/>
                <a:ea typeface="Raleway Bold"/>
                <a:cs typeface="Raleway Bold"/>
                <a:sym typeface="Raleway Bold"/>
              </a:rPr>
              <a:t>Evening hours show the highest threat activity</a:t>
            </a:r>
          </a:p>
          <a:p>
            <a:pPr marL="635883" lvl="1" indent="-317941" algn="l">
              <a:lnSpc>
                <a:spcPts val="4123"/>
              </a:lnSpc>
              <a:buFont typeface="Arial"/>
              <a:buChar char="•"/>
            </a:pPr>
            <a:r>
              <a:rPr lang="en-US" sz="2945" b="1">
                <a:solidFill>
                  <a:srgbClr val="FFFFFF"/>
                </a:solidFill>
                <a:latin typeface="Raleway Bold"/>
                <a:ea typeface="Raleway Bold"/>
                <a:cs typeface="Raleway Bold"/>
                <a:sym typeface="Raleway Bold"/>
              </a:rPr>
              <a:t>Global traffic sources increase exposure complexity</a:t>
            </a:r>
          </a:p>
          <a:p>
            <a:pPr marL="635883" lvl="1" indent="-317941" algn="l">
              <a:lnSpc>
                <a:spcPts val="4123"/>
              </a:lnSpc>
              <a:buFont typeface="Arial"/>
              <a:buChar char="•"/>
            </a:pPr>
            <a:r>
              <a:rPr lang="en-US" sz="2945" b="1">
                <a:solidFill>
                  <a:srgbClr val="FFFFFF"/>
                </a:solidFill>
                <a:latin typeface="Raleway Bold"/>
                <a:ea typeface="Raleway Bold"/>
                <a:cs typeface="Raleway Bold"/>
                <a:sym typeface="Raleway Bold"/>
              </a:rPr>
              <a:t>Firewall protection is strong but visibility gaps still exist</a:t>
            </a:r>
          </a:p>
          <a:p>
            <a:pPr algn="l">
              <a:lnSpc>
                <a:spcPts val="4123"/>
              </a:lnSpc>
              <a:spcBef>
                <a:spcPct val="0"/>
              </a:spcBef>
            </a:pPr>
            <a:endParaRPr lang="en-US" sz="2945" b="1">
              <a:solidFill>
                <a:srgbClr val="FFFFFF"/>
              </a:solidFill>
              <a:latin typeface="Raleway Bold"/>
              <a:ea typeface="Raleway Bold"/>
              <a:cs typeface="Raleway Bold"/>
              <a:sym typeface="Raleway Bold"/>
            </a:endParaRPr>
          </a:p>
        </p:txBody>
      </p:sp>
      <p:sp>
        <p:nvSpPr>
          <p:cNvPr id="16" name="Freeform 16"/>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4"/>
            <a:stretch>
              <a:fillRect/>
            </a:stretch>
          </a:blipFill>
        </p:spPr>
        <p:txBody>
          <a:bodyPr/>
          <a:lstStyle/>
          <a:p>
            <a:endParaRPr lang="ar-EG"/>
          </a:p>
        </p:txBody>
      </p:sp>
      <p:sp>
        <p:nvSpPr>
          <p:cNvPr id="17" name="Freeform 17"/>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5"/>
            <a:stretch>
              <a:fillRect r="-2988"/>
            </a:stretch>
          </a:blipFill>
        </p:spPr>
        <p:txBody>
          <a:bodyPr/>
          <a:lstStyle/>
          <a:p>
            <a:endParaRPr lang="ar-EG"/>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11996079" y="2182140"/>
            <a:ext cx="24087036" cy="7076160"/>
            <a:chOff x="0" y="0"/>
            <a:chExt cx="6343911" cy="1863680"/>
          </a:xfrm>
        </p:grpSpPr>
        <p:sp>
          <p:nvSpPr>
            <p:cNvPr id="7" name="Freeform 7"/>
            <p:cNvSpPr/>
            <p:nvPr/>
          </p:nvSpPr>
          <p:spPr>
            <a:xfrm>
              <a:off x="0" y="0"/>
              <a:ext cx="6343911" cy="1863680"/>
            </a:xfrm>
            <a:custGeom>
              <a:avLst/>
              <a:gdLst/>
              <a:ahLst/>
              <a:cxnLst/>
              <a:rect l="l" t="t" r="r" b="b"/>
              <a:pathLst>
                <a:path w="6343911" h="1863680">
                  <a:moveTo>
                    <a:pt x="0" y="0"/>
                  </a:moveTo>
                  <a:lnTo>
                    <a:pt x="6343911" y="0"/>
                  </a:lnTo>
                  <a:lnTo>
                    <a:pt x="6343911" y="1863680"/>
                  </a:lnTo>
                  <a:lnTo>
                    <a:pt x="0" y="1863680"/>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8" name="TextBox 8"/>
            <p:cNvSpPr txBox="1"/>
            <p:nvPr/>
          </p:nvSpPr>
          <p:spPr>
            <a:xfrm>
              <a:off x="0" y="38100"/>
              <a:ext cx="6343911" cy="1825580"/>
            </a:xfrm>
            <a:prstGeom prst="rect">
              <a:avLst/>
            </a:prstGeom>
          </p:spPr>
          <p:txBody>
            <a:bodyPr lIns="50800" tIns="50800" rIns="50800" bIns="50800" rtlCol="0" anchor="ctr"/>
            <a:lstStyle/>
            <a:p>
              <a:pPr algn="ctr">
                <a:lnSpc>
                  <a:spcPts val="2473"/>
                </a:lnSpc>
              </a:pPr>
              <a:endParaRPr/>
            </a:p>
          </p:txBody>
        </p:sp>
      </p:grpSp>
      <p:grpSp>
        <p:nvGrpSpPr>
          <p:cNvPr id="9" name="Group 9"/>
          <p:cNvGrpSpPr/>
          <p:nvPr/>
        </p:nvGrpSpPr>
        <p:grpSpPr>
          <a:xfrm>
            <a:off x="16031344" y="3155562"/>
            <a:ext cx="1227956" cy="1428894"/>
            <a:chOff x="0" y="0"/>
            <a:chExt cx="698500" cy="812800"/>
          </a:xfrm>
        </p:grpSpPr>
        <p:sp>
          <p:nvSpPr>
            <p:cNvPr id="10" name="Freeform 1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11" name="TextBox 11"/>
            <p:cNvSpPr txBox="1"/>
            <p:nvPr/>
          </p:nvSpPr>
          <p:spPr>
            <a:xfrm>
              <a:off x="0" y="92075"/>
              <a:ext cx="698500" cy="581025"/>
            </a:xfrm>
            <a:prstGeom prst="rect">
              <a:avLst/>
            </a:prstGeom>
          </p:spPr>
          <p:txBody>
            <a:bodyPr lIns="50800" tIns="50800" rIns="50800" bIns="50800" rtlCol="0" anchor="ctr"/>
            <a:lstStyle/>
            <a:p>
              <a:pPr algn="ctr">
                <a:lnSpc>
                  <a:spcPts val="2212"/>
                </a:lnSpc>
              </a:pPr>
              <a:endParaRPr/>
            </a:p>
          </p:txBody>
        </p:sp>
      </p:grpSp>
      <p:sp>
        <p:nvSpPr>
          <p:cNvPr id="12" name="TextBox 12"/>
          <p:cNvSpPr txBox="1"/>
          <p:nvPr/>
        </p:nvSpPr>
        <p:spPr>
          <a:xfrm>
            <a:off x="16656616" y="9872467"/>
            <a:ext cx="1316589"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15</a:t>
            </a:r>
          </a:p>
        </p:txBody>
      </p:sp>
      <p:sp>
        <p:nvSpPr>
          <p:cNvPr id="13" name="TextBox 13"/>
          <p:cNvSpPr txBox="1"/>
          <p:nvPr/>
        </p:nvSpPr>
        <p:spPr>
          <a:xfrm>
            <a:off x="1845362" y="2840654"/>
            <a:ext cx="7298638" cy="1173820"/>
          </a:xfrm>
          <a:prstGeom prst="rect">
            <a:avLst/>
          </a:prstGeom>
        </p:spPr>
        <p:txBody>
          <a:bodyPr lIns="0" tIns="0" rIns="0" bIns="0" rtlCol="0" anchor="t">
            <a:spAutoFit/>
          </a:bodyPr>
          <a:lstStyle/>
          <a:p>
            <a:pPr algn="l">
              <a:lnSpc>
                <a:spcPts val="8919"/>
              </a:lnSpc>
              <a:spcBef>
                <a:spcPct val="0"/>
              </a:spcBef>
            </a:pPr>
            <a:r>
              <a:rPr lang="en-US" sz="8414">
                <a:solidFill>
                  <a:srgbClr val="FFFFFF"/>
                </a:solidFill>
                <a:latin typeface="Anton"/>
                <a:ea typeface="Anton"/>
                <a:cs typeface="Anton"/>
                <a:sym typeface="Anton"/>
              </a:rPr>
              <a:t>RECOMMENDS </a:t>
            </a:r>
          </a:p>
        </p:txBody>
      </p:sp>
      <p:sp>
        <p:nvSpPr>
          <p:cNvPr id="14" name="TextBox 14"/>
          <p:cNvSpPr txBox="1"/>
          <p:nvPr/>
        </p:nvSpPr>
        <p:spPr>
          <a:xfrm>
            <a:off x="1028700" y="4184736"/>
            <a:ext cx="11062257" cy="7288887"/>
          </a:xfrm>
          <a:prstGeom prst="rect">
            <a:avLst/>
          </a:prstGeom>
        </p:spPr>
        <p:txBody>
          <a:bodyPr lIns="0" tIns="0" rIns="0" bIns="0" rtlCol="0" anchor="t">
            <a:spAutoFit/>
          </a:bodyPr>
          <a:lstStyle/>
          <a:p>
            <a:pPr algn="l">
              <a:lnSpc>
                <a:spcPts val="7225"/>
              </a:lnSpc>
            </a:pPr>
            <a:r>
              <a:rPr lang="en-US" sz="5160" b="1">
                <a:solidFill>
                  <a:srgbClr val="FFFFFF"/>
                </a:solidFill>
                <a:latin typeface="Raleway Bold"/>
                <a:ea typeface="Raleway Bold"/>
                <a:cs typeface="Raleway Bold"/>
                <a:sym typeface="Raleway Bold"/>
              </a:rPr>
              <a:t>1. Enhance Monitoring</a:t>
            </a:r>
          </a:p>
          <a:p>
            <a:pPr algn="l">
              <a:lnSpc>
                <a:spcPts val="7225"/>
              </a:lnSpc>
            </a:pPr>
            <a:r>
              <a:rPr lang="en-US" sz="5160" b="1">
                <a:solidFill>
                  <a:srgbClr val="FFFFFF"/>
                </a:solidFill>
                <a:latin typeface="Raleway Bold"/>
                <a:ea typeface="Raleway Bold"/>
                <a:cs typeface="Raleway Bold"/>
                <a:sym typeface="Raleway Bold"/>
              </a:rPr>
              <a:t>2. Improve Early Threat Detection</a:t>
            </a:r>
          </a:p>
          <a:p>
            <a:pPr algn="l">
              <a:lnSpc>
                <a:spcPts val="7225"/>
              </a:lnSpc>
            </a:pPr>
            <a:r>
              <a:rPr lang="en-US" sz="5160" b="1">
                <a:solidFill>
                  <a:srgbClr val="FFFFFF"/>
                </a:solidFill>
                <a:latin typeface="Raleway Bold"/>
                <a:ea typeface="Raleway Bold"/>
                <a:cs typeface="Raleway Bold"/>
                <a:sym typeface="Raleway Bold"/>
              </a:rPr>
              <a:t>3. Strengthen Protection </a:t>
            </a:r>
          </a:p>
          <a:p>
            <a:pPr algn="l">
              <a:lnSpc>
                <a:spcPts val="7225"/>
              </a:lnSpc>
            </a:pPr>
            <a:r>
              <a:rPr lang="en-US" sz="5160" b="1">
                <a:solidFill>
                  <a:srgbClr val="FFFFFF"/>
                </a:solidFill>
                <a:latin typeface="Raleway Bold"/>
                <a:ea typeface="Raleway Bold"/>
                <a:cs typeface="Raleway Bold"/>
                <a:sym typeface="Raleway Bold"/>
              </a:rPr>
              <a:t>4. Network Segmentation</a:t>
            </a:r>
          </a:p>
          <a:p>
            <a:pPr algn="l">
              <a:lnSpc>
                <a:spcPts val="7225"/>
              </a:lnSpc>
            </a:pPr>
            <a:r>
              <a:rPr lang="en-US" sz="5160" b="1">
                <a:solidFill>
                  <a:srgbClr val="FFFFFF"/>
                </a:solidFill>
                <a:latin typeface="Raleway Bold"/>
                <a:ea typeface="Raleway Bold"/>
                <a:cs typeface="Raleway Bold"/>
                <a:sym typeface="Raleway Bold"/>
              </a:rPr>
              <a:t>5. Incident Response Plan</a:t>
            </a:r>
          </a:p>
          <a:p>
            <a:pPr algn="l">
              <a:lnSpc>
                <a:spcPts val="7225"/>
              </a:lnSpc>
            </a:pPr>
            <a:endParaRPr lang="en-US" sz="5160" b="1">
              <a:solidFill>
                <a:srgbClr val="FFFFFF"/>
              </a:solidFill>
              <a:latin typeface="Raleway Bold"/>
              <a:ea typeface="Raleway Bold"/>
              <a:cs typeface="Raleway Bold"/>
              <a:sym typeface="Raleway Bold"/>
            </a:endParaRPr>
          </a:p>
          <a:p>
            <a:pPr algn="l">
              <a:lnSpc>
                <a:spcPts val="7225"/>
              </a:lnSpc>
            </a:pPr>
            <a:endParaRPr lang="en-US" sz="5160" b="1">
              <a:solidFill>
                <a:srgbClr val="FFFFFF"/>
              </a:solidFill>
              <a:latin typeface="Raleway Bold"/>
              <a:ea typeface="Raleway Bold"/>
              <a:cs typeface="Raleway Bold"/>
              <a:sym typeface="Raleway Bold"/>
            </a:endParaRPr>
          </a:p>
          <a:p>
            <a:pPr algn="l">
              <a:lnSpc>
                <a:spcPts val="7225"/>
              </a:lnSpc>
              <a:spcBef>
                <a:spcPct val="0"/>
              </a:spcBef>
            </a:pPr>
            <a:endParaRPr lang="en-US" sz="5160" b="1">
              <a:solidFill>
                <a:srgbClr val="FFFFFF"/>
              </a:solidFill>
              <a:latin typeface="Raleway Bold"/>
              <a:ea typeface="Raleway Bold"/>
              <a:cs typeface="Raleway Bold"/>
              <a:sym typeface="Raleway Bold"/>
            </a:endParaRPr>
          </a:p>
        </p:txBody>
      </p:sp>
      <p:sp>
        <p:nvSpPr>
          <p:cNvPr id="15" name="Freeform 15"/>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3"/>
            <a:stretch>
              <a:fillRect/>
            </a:stretch>
          </a:blipFill>
        </p:spPr>
        <p:txBody>
          <a:bodyPr/>
          <a:lstStyle/>
          <a:p>
            <a:endParaRPr lang="ar-EG"/>
          </a:p>
        </p:txBody>
      </p:sp>
      <p:sp>
        <p:nvSpPr>
          <p:cNvPr id="16" name="Freeform 16"/>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4"/>
            <a:stretch>
              <a:fillRect r="-2988"/>
            </a:stretch>
          </a:blipFill>
        </p:spPr>
        <p:txBody>
          <a:bodyPr/>
          <a:lstStyle/>
          <a:p>
            <a:endParaRPr lang="ar-EG"/>
          </a:p>
        </p:txBody>
      </p:sp>
      <p:sp>
        <p:nvSpPr>
          <p:cNvPr id="17" name="Freeform 17"/>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11996079" y="2182140"/>
            <a:ext cx="24087036" cy="7076160"/>
            <a:chOff x="0" y="0"/>
            <a:chExt cx="6343911" cy="1863680"/>
          </a:xfrm>
        </p:grpSpPr>
        <p:sp>
          <p:nvSpPr>
            <p:cNvPr id="7" name="Freeform 7"/>
            <p:cNvSpPr/>
            <p:nvPr/>
          </p:nvSpPr>
          <p:spPr>
            <a:xfrm>
              <a:off x="0" y="0"/>
              <a:ext cx="6343911" cy="1863680"/>
            </a:xfrm>
            <a:custGeom>
              <a:avLst/>
              <a:gdLst/>
              <a:ahLst/>
              <a:cxnLst/>
              <a:rect l="l" t="t" r="r" b="b"/>
              <a:pathLst>
                <a:path w="6343911" h="1863680">
                  <a:moveTo>
                    <a:pt x="0" y="0"/>
                  </a:moveTo>
                  <a:lnTo>
                    <a:pt x="6343911" y="0"/>
                  </a:lnTo>
                  <a:lnTo>
                    <a:pt x="6343911" y="1863680"/>
                  </a:lnTo>
                  <a:lnTo>
                    <a:pt x="0" y="1863680"/>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8" name="TextBox 8"/>
            <p:cNvSpPr txBox="1"/>
            <p:nvPr/>
          </p:nvSpPr>
          <p:spPr>
            <a:xfrm>
              <a:off x="0" y="38100"/>
              <a:ext cx="6343911" cy="1825580"/>
            </a:xfrm>
            <a:prstGeom prst="rect">
              <a:avLst/>
            </a:prstGeom>
          </p:spPr>
          <p:txBody>
            <a:bodyPr lIns="50800" tIns="50800" rIns="50800" bIns="50800" rtlCol="0" anchor="ctr"/>
            <a:lstStyle/>
            <a:p>
              <a:pPr algn="ctr">
                <a:lnSpc>
                  <a:spcPts val="2473"/>
                </a:lnSpc>
              </a:pPr>
              <a:endParaRPr/>
            </a:p>
          </p:txBody>
        </p:sp>
      </p:grpSp>
      <p:grpSp>
        <p:nvGrpSpPr>
          <p:cNvPr id="9" name="Group 9"/>
          <p:cNvGrpSpPr/>
          <p:nvPr/>
        </p:nvGrpSpPr>
        <p:grpSpPr>
          <a:xfrm>
            <a:off x="16031344" y="3155562"/>
            <a:ext cx="1227956" cy="1428894"/>
            <a:chOff x="0" y="0"/>
            <a:chExt cx="698500" cy="812800"/>
          </a:xfrm>
        </p:grpSpPr>
        <p:sp>
          <p:nvSpPr>
            <p:cNvPr id="10" name="Freeform 1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11" name="TextBox 11"/>
            <p:cNvSpPr txBox="1"/>
            <p:nvPr/>
          </p:nvSpPr>
          <p:spPr>
            <a:xfrm>
              <a:off x="0" y="92075"/>
              <a:ext cx="698500" cy="581025"/>
            </a:xfrm>
            <a:prstGeom prst="rect">
              <a:avLst/>
            </a:prstGeom>
          </p:spPr>
          <p:txBody>
            <a:bodyPr lIns="50800" tIns="50800" rIns="50800" bIns="50800" rtlCol="0" anchor="ctr"/>
            <a:lstStyle/>
            <a:p>
              <a:pPr algn="ctr">
                <a:lnSpc>
                  <a:spcPts val="2212"/>
                </a:lnSpc>
              </a:pPr>
              <a:endParaRPr/>
            </a:p>
          </p:txBody>
        </p:sp>
      </p:grpSp>
      <p:sp>
        <p:nvSpPr>
          <p:cNvPr id="12" name="TextBox 12"/>
          <p:cNvSpPr txBox="1"/>
          <p:nvPr/>
        </p:nvSpPr>
        <p:spPr>
          <a:xfrm>
            <a:off x="16656616" y="9872467"/>
            <a:ext cx="1316589"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16</a:t>
            </a:r>
          </a:p>
        </p:txBody>
      </p:sp>
      <p:sp>
        <p:nvSpPr>
          <p:cNvPr id="13" name="TextBox 13"/>
          <p:cNvSpPr txBox="1"/>
          <p:nvPr/>
        </p:nvSpPr>
        <p:spPr>
          <a:xfrm>
            <a:off x="1845362" y="2840654"/>
            <a:ext cx="7298638" cy="2302800"/>
          </a:xfrm>
          <a:prstGeom prst="rect">
            <a:avLst/>
          </a:prstGeom>
        </p:spPr>
        <p:txBody>
          <a:bodyPr lIns="0" tIns="0" rIns="0" bIns="0" rtlCol="0" anchor="t">
            <a:spAutoFit/>
          </a:bodyPr>
          <a:lstStyle/>
          <a:p>
            <a:pPr algn="l">
              <a:lnSpc>
                <a:spcPts val="8919"/>
              </a:lnSpc>
            </a:pPr>
            <a:r>
              <a:rPr lang="en-US" sz="8414">
                <a:solidFill>
                  <a:srgbClr val="FFFFFF"/>
                </a:solidFill>
                <a:latin typeface="Anton"/>
                <a:ea typeface="Anton"/>
                <a:cs typeface="Anton"/>
                <a:sym typeface="Anton"/>
              </a:rPr>
              <a:t>CONCLUSION</a:t>
            </a:r>
          </a:p>
          <a:p>
            <a:pPr algn="l">
              <a:lnSpc>
                <a:spcPts val="8919"/>
              </a:lnSpc>
              <a:spcBef>
                <a:spcPct val="0"/>
              </a:spcBef>
            </a:pPr>
            <a:endParaRPr lang="en-US" sz="8414">
              <a:solidFill>
                <a:srgbClr val="FFFFFF"/>
              </a:solidFill>
              <a:latin typeface="Anton"/>
              <a:ea typeface="Anton"/>
              <a:cs typeface="Anton"/>
              <a:sym typeface="Anton"/>
            </a:endParaRPr>
          </a:p>
        </p:txBody>
      </p:sp>
      <p:sp>
        <p:nvSpPr>
          <p:cNvPr id="14" name="TextBox 14"/>
          <p:cNvSpPr txBox="1"/>
          <p:nvPr/>
        </p:nvSpPr>
        <p:spPr>
          <a:xfrm>
            <a:off x="1447234" y="4185413"/>
            <a:ext cx="10226539" cy="5072887"/>
          </a:xfrm>
          <a:prstGeom prst="rect">
            <a:avLst/>
          </a:prstGeom>
        </p:spPr>
        <p:txBody>
          <a:bodyPr lIns="0" tIns="0" rIns="0" bIns="0" rtlCol="0" anchor="t">
            <a:spAutoFit/>
          </a:bodyPr>
          <a:lstStyle/>
          <a:p>
            <a:pPr algn="l">
              <a:lnSpc>
                <a:spcPts val="4457"/>
              </a:lnSpc>
            </a:pPr>
            <a:r>
              <a:rPr lang="en-US" sz="3184" b="1">
                <a:solidFill>
                  <a:srgbClr val="FFFFFF"/>
                </a:solidFill>
                <a:latin typeface="Raleway Bold"/>
                <a:ea typeface="Raleway Bold"/>
                <a:cs typeface="Raleway Bold"/>
                <a:sym typeface="Raleway Bold"/>
              </a:rPr>
              <a:t>"The analysis demonstrates that LAN threats are continuous, concentrated, and operationally significant. By improving visibility, strengthening protection around critical services, and enhancing early detection capabilities, organizations can significantly reduce network exposure and improve cybersecurity readiness."</a:t>
            </a:r>
          </a:p>
          <a:p>
            <a:pPr algn="l">
              <a:lnSpc>
                <a:spcPts val="4457"/>
              </a:lnSpc>
            </a:pPr>
            <a:endParaRPr lang="en-US" sz="3184" b="1">
              <a:solidFill>
                <a:srgbClr val="FFFFFF"/>
              </a:solidFill>
              <a:latin typeface="Raleway Bold"/>
              <a:ea typeface="Raleway Bold"/>
              <a:cs typeface="Raleway Bold"/>
              <a:sym typeface="Raleway Bold"/>
            </a:endParaRPr>
          </a:p>
          <a:p>
            <a:pPr algn="l">
              <a:lnSpc>
                <a:spcPts val="4457"/>
              </a:lnSpc>
              <a:spcBef>
                <a:spcPct val="0"/>
              </a:spcBef>
            </a:pPr>
            <a:endParaRPr lang="en-US" sz="3184" b="1">
              <a:solidFill>
                <a:srgbClr val="FFFFFF"/>
              </a:solidFill>
              <a:latin typeface="Raleway Bold"/>
              <a:ea typeface="Raleway Bold"/>
              <a:cs typeface="Raleway Bold"/>
              <a:sym typeface="Raleway Bold"/>
            </a:endParaRPr>
          </a:p>
        </p:txBody>
      </p:sp>
      <p:sp>
        <p:nvSpPr>
          <p:cNvPr id="15" name="Freeform 15"/>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3"/>
            <a:stretch>
              <a:fillRect/>
            </a:stretch>
          </a:blipFill>
        </p:spPr>
        <p:txBody>
          <a:bodyPr/>
          <a:lstStyle/>
          <a:p>
            <a:endParaRPr lang="ar-EG"/>
          </a:p>
        </p:txBody>
      </p:sp>
      <p:sp>
        <p:nvSpPr>
          <p:cNvPr id="16" name="Freeform 16"/>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4"/>
            <a:stretch>
              <a:fillRect r="-2988"/>
            </a:stretch>
          </a:blipFill>
        </p:spPr>
        <p:txBody>
          <a:bodyPr/>
          <a:lstStyle/>
          <a:p>
            <a:endParaRPr lang="ar-EG"/>
          </a:p>
        </p:txBody>
      </p:sp>
      <p:sp>
        <p:nvSpPr>
          <p:cNvPr id="17" name="Freeform 17"/>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6" name="Group 6"/>
          <p:cNvGrpSpPr/>
          <p:nvPr/>
        </p:nvGrpSpPr>
        <p:grpSpPr>
          <a:xfrm>
            <a:off x="-11996079" y="2182140"/>
            <a:ext cx="28267418" cy="7076160"/>
            <a:chOff x="0" y="0"/>
            <a:chExt cx="7444917" cy="1863680"/>
          </a:xfrm>
        </p:grpSpPr>
        <p:sp>
          <p:nvSpPr>
            <p:cNvPr id="7" name="Freeform 7"/>
            <p:cNvSpPr/>
            <p:nvPr/>
          </p:nvSpPr>
          <p:spPr>
            <a:xfrm>
              <a:off x="0" y="0"/>
              <a:ext cx="7444917" cy="1863680"/>
            </a:xfrm>
            <a:custGeom>
              <a:avLst/>
              <a:gdLst/>
              <a:ahLst/>
              <a:cxnLst/>
              <a:rect l="l" t="t" r="r" b="b"/>
              <a:pathLst>
                <a:path w="7444917" h="1863680">
                  <a:moveTo>
                    <a:pt x="0" y="0"/>
                  </a:moveTo>
                  <a:lnTo>
                    <a:pt x="7444917" y="0"/>
                  </a:lnTo>
                  <a:lnTo>
                    <a:pt x="7444917" y="1863680"/>
                  </a:lnTo>
                  <a:lnTo>
                    <a:pt x="0" y="1863680"/>
                  </a:lnTo>
                  <a:close/>
                </a:path>
              </a:pathLst>
            </a:custGeom>
            <a:gradFill rotWithShape="1">
              <a:gsLst>
                <a:gs pos="0">
                  <a:srgbClr val="45DEEF">
                    <a:alpha val="45000"/>
                  </a:srgbClr>
                </a:gs>
                <a:gs pos="100000">
                  <a:srgbClr val="0074AD">
                    <a:alpha val="2925"/>
                  </a:srgbClr>
                </a:gs>
              </a:gsLst>
              <a:lin ang="0"/>
            </a:gradFill>
          </p:spPr>
          <p:txBody>
            <a:bodyPr/>
            <a:lstStyle/>
            <a:p>
              <a:endParaRPr lang="ar-EG"/>
            </a:p>
          </p:txBody>
        </p:sp>
        <p:sp>
          <p:nvSpPr>
            <p:cNvPr id="8" name="TextBox 8"/>
            <p:cNvSpPr txBox="1"/>
            <p:nvPr/>
          </p:nvSpPr>
          <p:spPr>
            <a:xfrm>
              <a:off x="0" y="38100"/>
              <a:ext cx="7444917" cy="1825580"/>
            </a:xfrm>
            <a:prstGeom prst="rect">
              <a:avLst/>
            </a:prstGeom>
          </p:spPr>
          <p:txBody>
            <a:bodyPr lIns="50800" tIns="50800" rIns="50800" bIns="50800" rtlCol="0" anchor="ctr"/>
            <a:lstStyle/>
            <a:p>
              <a:pPr algn="ctr">
                <a:lnSpc>
                  <a:spcPts val="2473"/>
                </a:lnSpc>
              </a:pPr>
              <a:endParaRPr/>
            </a:p>
          </p:txBody>
        </p:sp>
      </p:grpSp>
      <p:grpSp>
        <p:nvGrpSpPr>
          <p:cNvPr id="9" name="Group 9"/>
          <p:cNvGrpSpPr/>
          <p:nvPr/>
        </p:nvGrpSpPr>
        <p:grpSpPr>
          <a:xfrm>
            <a:off x="3368786" y="4330068"/>
            <a:ext cx="699044" cy="813432"/>
            <a:chOff x="0" y="0"/>
            <a:chExt cx="698500" cy="812800"/>
          </a:xfrm>
        </p:grpSpPr>
        <p:sp>
          <p:nvSpPr>
            <p:cNvPr id="10" name="Freeform 1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11" name="TextBox 11"/>
            <p:cNvSpPr txBox="1"/>
            <p:nvPr/>
          </p:nvSpPr>
          <p:spPr>
            <a:xfrm>
              <a:off x="0" y="92075"/>
              <a:ext cx="698500" cy="581025"/>
            </a:xfrm>
            <a:prstGeom prst="rect">
              <a:avLst/>
            </a:prstGeom>
          </p:spPr>
          <p:txBody>
            <a:bodyPr lIns="50800" tIns="50800" rIns="50800" bIns="50800" rtlCol="0" anchor="ctr"/>
            <a:lstStyle/>
            <a:p>
              <a:pPr algn="ctr">
                <a:lnSpc>
                  <a:spcPts val="2212"/>
                </a:lnSpc>
              </a:pPr>
              <a:endParaRPr/>
            </a:p>
          </p:txBody>
        </p:sp>
      </p:grpSp>
      <p:sp>
        <p:nvSpPr>
          <p:cNvPr id="12" name="Freeform 12"/>
          <p:cNvSpPr/>
          <p:nvPr/>
        </p:nvSpPr>
        <p:spPr>
          <a:xfrm>
            <a:off x="3477585" y="4458638"/>
            <a:ext cx="481445" cy="528533"/>
          </a:xfrm>
          <a:custGeom>
            <a:avLst/>
            <a:gdLst/>
            <a:ahLst/>
            <a:cxnLst/>
            <a:rect l="l" t="t" r="r" b="b"/>
            <a:pathLst>
              <a:path w="481445" h="528533">
                <a:moveTo>
                  <a:pt x="0" y="0"/>
                </a:moveTo>
                <a:lnTo>
                  <a:pt x="481446" y="0"/>
                </a:lnTo>
                <a:lnTo>
                  <a:pt x="481446" y="528533"/>
                </a:lnTo>
                <a:lnTo>
                  <a:pt x="0" y="52853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13" name="TextBox 13"/>
          <p:cNvSpPr txBox="1"/>
          <p:nvPr/>
        </p:nvSpPr>
        <p:spPr>
          <a:xfrm>
            <a:off x="16656616" y="9872467"/>
            <a:ext cx="1316589"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17</a:t>
            </a:r>
          </a:p>
        </p:txBody>
      </p:sp>
      <p:sp>
        <p:nvSpPr>
          <p:cNvPr id="14" name="TextBox 14"/>
          <p:cNvSpPr txBox="1"/>
          <p:nvPr/>
        </p:nvSpPr>
        <p:spPr>
          <a:xfrm>
            <a:off x="5070797" y="2602321"/>
            <a:ext cx="8712746" cy="1168791"/>
          </a:xfrm>
          <a:prstGeom prst="rect">
            <a:avLst/>
          </a:prstGeom>
        </p:spPr>
        <p:txBody>
          <a:bodyPr lIns="0" tIns="0" rIns="0" bIns="0" rtlCol="0" anchor="t">
            <a:spAutoFit/>
          </a:bodyPr>
          <a:lstStyle/>
          <a:p>
            <a:pPr algn="ctr">
              <a:lnSpc>
                <a:spcPts val="8919"/>
              </a:lnSpc>
              <a:spcBef>
                <a:spcPct val="0"/>
              </a:spcBef>
            </a:pPr>
            <a:r>
              <a:rPr lang="en-US" sz="8414">
                <a:solidFill>
                  <a:srgbClr val="FFFFFF"/>
                </a:solidFill>
                <a:latin typeface="Anton"/>
                <a:ea typeface="Anton"/>
                <a:cs typeface="Anton"/>
                <a:sym typeface="Anton"/>
              </a:rPr>
              <a:t>THANKS</a:t>
            </a:r>
          </a:p>
        </p:txBody>
      </p:sp>
      <p:grpSp>
        <p:nvGrpSpPr>
          <p:cNvPr id="15" name="Group 15"/>
          <p:cNvGrpSpPr/>
          <p:nvPr/>
        </p:nvGrpSpPr>
        <p:grpSpPr>
          <a:xfrm>
            <a:off x="2427361" y="5301575"/>
            <a:ext cx="418645" cy="41864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45DEEF">
                      <a:alpha val="100000"/>
                    </a:srgbClr>
                  </a:gs>
                  <a:gs pos="100000">
                    <a:srgbClr val="0074AD">
                      <a:alpha val="6500"/>
                    </a:srgbClr>
                  </a:gs>
                </a:gsLst>
                <a:lin ang="0"/>
              </a:gradFill>
              <a:prstDash val="solid"/>
              <a:miter/>
            </a:ln>
          </p:spPr>
          <p:txBody>
            <a:bodyPr/>
            <a:lstStyle/>
            <a:p>
              <a:endParaRPr lang="ar-EG"/>
            </a:p>
          </p:txBody>
        </p:sp>
        <p:sp>
          <p:nvSpPr>
            <p:cNvPr id="17" name="TextBox 17"/>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18" name="TextBox 18"/>
          <p:cNvSpPr txBox="1"/>
          <p:nvPr/>
        </p:nvSpPr>
        <p:spPr>
          <a:xfrm>
            <a:off x="2670091" y="6243095"/>
            <a:ext cx="3285433" cy="2192408"/>
          </a:xfrm>
          <a:prstGeom prst="rect">
            <a:avLst/>
          </a:prstGeom>
        </p:spPr>
        <p:txBody>
          <a:bodyPr lIns="0" tIns="0" rIns="0" bIns="0" rtlCol="0" anchor="t">
            <a:spAutoFit/>
          </a:bodyPr>
          <a:lstStyle/>
          <a:p>
            <a:pPr marL="0" lvl="0" indent="0" algn="ctr">
              <a:lnSpc>
                <a:spcPts val="2533"/>
              </a:lnSpc>
              <a:spcBef>
                <a:spcPct val="0"/>
              </a:spcBef>
            </a:pPr>
            <a:r>
              <a:rPr lang="en-US" sz="1809" b="1">
                <a:solidFill>
                  <a:srgbClr val="FFFFFF"/>
                </a:solidFill>
                <a:latin typeface="Raleway Bold"/>
                <a:ea typeface="Raleway Bold"/>
                <a:cs typeface="Raleway Bold"/>
                <a:sym typeface="Raleway Bold"/>
              </a:rPr>
              <a:t>S</a:t>
            </a:r>
            <a:r>
              <a:rPr lang="en-US" sz="1809" b="1" u="none" strike="noStrike">
                <a:solidFill>
                  <a:srgbClr val="FFFFFF"/>
                </a:solidFill>
                <a:latin typeface="Raleway Bold"/>
                <a:ea typeface="Raleway Bold"/>
                <a:cs typeface="Raleway Bold"/>
                <a:sym typeface="Raleway Bold"/>
              </a:rPr>
              <a:t>pecial thanks to the Digital Egypt Pioneers Initiative for equipping us with industry-focused knowledge and practical experience in data analytics and digital technologies.</a:t>
            </a:r>
          </a:p>
        </p:txBody>
      </p:sp>
      <p:sp>
        <p:nvSpPr>
          <p:cNvPr id="19" name="TextBox 19"/>
          <p:cNvSpPr txBox="1"/>
          <p:nvPr/>
        </p:nvSpPr>
        <p:spPr>
          <a:xfrm>
            <a:off x="2565430" y="534520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1.</a:t>
            </a:r>
          </a:p>
        </p:txBody>
      </p:sp>
      <p:grpSp>
        <p:nvGrpSpPr>
          <p:cNvPr id="20" name="Group 20"/>
          <p:cNvGrpSpPr/>
          <p:nvPr/>
        </p:nvGrpSpPr>
        <p:grpSpPr>
          <a:xfrm>
            <a:off x="8772686" y="4330068"/>
            <a:ext cx="699044" cy="813432"/>
            <a:chOff x="0" y="0"/>
            <a:chExt cx="698500" cy="812800"/>
          </a:xfrm>
        </p:grpSpPr>
        <p:sp>
          <p:nvSpPr>
            <p:cNvPr id="21" name="Freeform 2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22" name="TextBox 22"/>
            <p:cNvSpPr txBox="1"/>
            <p:nvPr/>
          </p:nvSpPr>
          <p:spPr>
            <a:xfrm>
              <a:off x="0" y="92075"/>
              <a:ext cx="698500" cy="581025"/>
            </a:xfrm>
            <a:prstGeom prst="rect">
              <a:avLst/>
            </a:prstGeom>
          </p:spPr>
          <p:txBody>
            <a:bodyPr lIns="50800" tIns="50800" rIns="50800" bIns="50800" rtlCol="0" anchor="ctr"/>
            <a:lstStyle/>
            <a:p>
              <a:pPr algn="ctr">
                <a:lnSpc>
                  <a:spcPts val="2212"/>
                </a:lnSpc>
              </a:pPr>
              <a:endParaRPr/>
            </a:p>
          </p:txBody>
        </p:sp>
      </p:grpSp>
      <p:sp>
        <p:nvSpPr>
          <p:cNvPr id="23" name="Freeform 23"/>
          <p:cNvSpPr/>
          <p:nvPr/>
        </p:nvSpPr>
        <p:spPr>
          <a:xfrm>
            <a:off x="8881485" y="4458638"/>
            <a:ext cx="481445" cy="528533"/>
          </a:xfrm>
          <a:custGeom>
            <a:avLst/>
            <a:gdLst/>
            <a:ahLst/>
            <a:cxnLst/>
            <a:rect l="l" t="t" r="r" b="b"/>
            <a:pathLst>
              <a:path w="481445" h="528533">
                <a:moveTo>
                  <a:pt x="0" y="0"/>
                </a:moveTo>
                <a:lnTo>
                  <a:pt x="481446" y="0"/>
                </a:lnTo>
                <a:lnTo>
                  <a:pt x="481446" y="528533"/>
                </a:lnTo>
                <a:lnTo>
                  <a:pt x="0" y="52853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grpSp>
        <p:nvGrpSpPr>
          <p:cNvPr id="24" name="Group 24"/>
          <p:cNvGrpSpPr/>
          <p:nvPr/>
        </p:nvGrpSpPr>
        <p:grpSpPr>
          <a:xfrm>
            <a:off x="7171251" y="5301575"/>
            <a:ext cx="418645" cy="418645"/>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45DEEF">
                      <a:alpha val="100000"/>
                    </a:srgbClr>
                  </a:gs>
                  <a:gs pos="100000">
                    <a:srgbClr val="0074AD">
                      <a:alpha val="6500"/>
                    </a:srgbClr>
                  </a:gs>
                </a:gsLst>
                <a:lin ang="0"/>
              </a:gradFill>
              <a:prstDash val="solid"/>
              <a:miter/>
            </a:ln>
          </p:spPr>
          <p:txBody>
            <a:bodyPr/>
            <a:lstStyle/>
            <a:p>
              <a:endParaRPr lang="ar-EG"/>
            </a:p>
          </p:txBody>
        </p:sp>
        <p:sp>
          <p:nvSpPr>
            <p:cNvPr id="26" name="TextBox 2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27" name="TextBox 27"/>
          <p:cNvSpPr txBox="1"/>
          <p:nvPr/>
        </p:nvSpPr>
        <p:spPr>
          <a:xfrm>
            <a:off x="7309320" y="534520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28" name="TextBox 28"/>
          <p:cNvSpPr txBox="1"/>
          <p:nvPr/>
        </p:nvSpPr>
        <p:spPr>
          <a:xfrm>
            <a:off x="7761801" y="5357397"/>
            <a:ext cx="4676633" cy="333248"/>
          </a:xfrm>
          <a:prstGeom prst="rect">
            <a:avLst/>
          </a:prstGeom>
        </p:spPr>
        <p:txBody>
          <a:bodyPr lIns="0" tIns="0" rIns="0" bIns="0" rtlCol="0" anchor="t">
            <a:spAutoFit/>
          </a:bodyPr>
          <a:lstStyle/>
          <a:p>
            <a:pPr marL="0" lvl="0" indent="0" algn="l">
              <a:lnSpc>
                <a:spcPts val="2631"/>
              </a:lnSpc>
              <a:spcBef>
                <a:spcPct val="0"/>
              </a:spcBef>
            </a:pPr>
            <a:r>
              <a:rPr lang="en-US" sz="1879">
                <a:solidFill>
                  <a:srgbClr val="FFFFFF"/>
                </a:solidFill>
                <a:latin typeface="Raleway"/>
                <a:ea typeface="Raleway"/>
                <a:cs typeface="Raleway"/>
                <a:sym typeface="Raleway"/>
              </a:rPr>
              <a:t>CO</a:t>
            </a:r>
            <a:r>
              <a:rPr lang="en-US" sz="1879" u="none" strike="noStrike">
                <a:solidFill>
                  <a:srgbClr val="FFFFFF"/>
                </a:solidFill>
                <a:latin typeface="Raleway"/>
                <a:ea typeface="Raleway"/>
                <a:cs typeface="Raleway"/>
                <a:sym typeface="Raleway"/>
              </a:rPr>
              <a:t>LLABORATORS &amp; MENTORS</a:t>
            </a:r>
          </a:p>
        </p:txBody>
      </p:sp>
      <p:grpSp>
        <p:nvGrpSpPr>
          <p:cNvPr id="29" name="Group 29"/>
          <p:cNvGrpSpPr/>
          <p:nvPr/>
        </p:nvGrpSpPr>
        <p:grpSpPr>
          <a:xfrm>
            <a:off x="14176586" y="4330068"/>
            <a:ext cx="699044" cy="813432"/>
            <a:chOff x="0" y="0"/>
            <a:chExt cx="698500" cy="812800"/>
          </a:xfrm>
        </p:grpSpPr>
        <p:sp>
          <p:nvSpPr>
            <p:cNvPr id="30" name="Freeform 3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31" name="TextBox 31"/>
            <p:cNvSpPr txBox="1"/>
            <p:nvPr/>
          </p:nvSpPr>
          <p:spPr>
            <a:xfrm>
              <a:off x="0" y="92075"/>
              <a:ext cx="698500" cy="581025"/>
            </a:xfrm>
            <a:prstGeom prst="rect">
              <a:avLst/>
            </a:prstGeom>
          </p:spPr>
          <p:txBody>
            <a:bodyPr lIns="50800" tIns="50800" rIns="50800" bIns="50800" rtlCol="0" anchor="ctr"/>
            <a:lstStyle/>
            <a:p>
              <a:pPr algn="ctr">
                <a:lnSpc>
                  <a:spcPts val="2212"/>
                </a:lnSpc>
              </a:pPr>
              <a:endParaRPr/>
            </a:p>
          </p:txBody>
        </p:sp>
      </p:grpSp>
      <p:sp>
        <p:nvSpPr>
          <p:cNvPr id="32" name="Freeform 32"/>
          <p:cNvSpPr/>
          <p:nvPr/>
        </p:nvSpPr>
        <p:spPr>
          <a:xfrm>
            <a:off x="14285385" y="4458638"/>
            <a:ext cx="481445" cy="528533"/>
          </a:xfrm>
          <a:custGeom>
            <a:avLst/>
            <a:gdLst/>
            <a:ahLst/>
            <a:cxnLst/>
            <a:rect l="l" t="t" r="r" b="b"/>
            <a:pathLst>
              <a:path w="481445" h="528533">
                <a:moveTo>
                  <a:pt x="0" y="0"/>
                </a:moveTo>
                <a:lnTo>
                  <a:pt x="481445" y="0"/>
                </a:lnTo>
                <a:lnTo>
                  <a:pt x="481445" y="528533"/>
                </a:lnTo>
                <a:lnTo>
                  <a:pt x="0" y="52853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grpSp>
        <p:nvGrpSpPr>
          <p:cNvPr id="33" name="Group 33"/>
          <p:cNvGrpSpPr/>
          <p:nvPr/>
        </p:nvGrpSpPr>
        <p:grpSpPr>
          <a:xfrm>
            <a:off x="12900310" y="5301575"/>
            <a:ext cx="418645" cy="418645"/>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45DEEF">
                      <a:alpha val="100000"/>
                    </a:srgbClr>
                  </a:gs>
                  <a:gs pos="100000">
                    <a:srgbClr val="0074AD">
                      <a:alpha val="6500"/>
                    </a:srgbClr>
                  </a:gs>
                </a:gsLst>
                <a:lin ang="0"/>
              </a:gradFill>
              <a:prstDash val="solid"/>
              <a:miter/>
            </a:ln>
          </p:spPr>
          <p:txBody>
            <a:bodyPr/>
            <a:lstStyle/>
            <a:p>
              <a:endParaRPr lang="ar-EG"/>
            </a:p>
          </p:txBody>
        </p:sp>
        <p:sp>
          <p:nvSpPr>
            <p:cNvPr id="35" name="TextBox 3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36" name="TextBox 36"/>
          <p:cNvSpPr txBox="1"/>
          <p:nvPr/>
        </p:nvSpPr>
        <p:spPr>
          <a:xfrm>
            <a:off x="7004316" y="6101220"/>
            <a:ext cx="4934827" cy="2821058"/>
          </a:xfrm>
          <a:prstGeom prst="rect">
            <a:avLst/>
          </a:prstGeom>
        </p:spPr>
        <p:txBody>
          <a:bodyPr lIns="0" tIns="0" rIns="0" bIns="0" rtlCol="0" anchor="t">
            <a:spAutoFit/>
          </a:bodyPr>
          <a:lstStyle/>
          <a:p>
            <a:pPr marL="0" lvl="0" indent="0" algn="ctr">
              <a:lnSpc>
                <a:spcPts val="2533"/>
              </a:lnSpc>
              <a:spcBef>
                <a:spcPct val="0"/>
              </a:spcBef>
            </a:pPr>
            <a:r>
              <a:rPr lang="en-US" sz="1809" b="1" u="none" strike="noStrike">
                <a:solidFill>
                  <a:srgbClr val="FFFFFF"/>
                </a:solidFill>
                <a:latin typeface="Raleway Bold"/>
                <a:ea typeface="Raleway Bold"/>
                <a:cs typeface="Raleway Bold"/>
                <a:sym typeface="Raleway Bold"/>
              </a:rPr>
              <a:t>I would like to express my heartfelt appreciation to all mentors, instructors, and supporting teams whose guidance and expertise played a significant role in the success of this project.</a:t>
            </a:r>
          </a:p>
          <a:p>
            <a:pPr marL="0" lvl="0" indent="0" algn="ctr">
              <a:lnSpc>
                <a:spcPts val="2533"/>
              </a:lnSpc>
              <a:spcBef>
                <a:spcPct val="0"/>
              </a:spcBef>
            </a:pPr>
            <a:r>
              <a:rPr lang="en-US" sz="1809" b="1" u="none" strike="noStrike">
                <a:solidFill>
                  <a:srgbClr val="FFFFFF"/>
                </a:solidFill>
                <a:latin typeface="Raleway Bold"/>
                <a:ea typeface="Raleway Bold"/>
                <a:cs typeface="Raleway Bold"/>
                <a:sym typeface="Raleway Bold"/>
              </a:rPr>
              <a:t>Technical Training: CLS</a:t>
            </a:r>
          </a:p>
          <a:p>
            <a:pPr marL="0" lvl="0" indent="0" algn="ctr">
              <a:lnSpc>
                <a:spcPts val="2533"/>
              </a:lnSpc>
              <a:spcBef>
                <a:spcPct val="0"/>
              </a:spcBef>
            </a:pPr>
            <a:r>
              <a:rPr lang="en-US" sz="1809" b="1" u="none" strike="noStrike">
                <a:solidFill>
                  <a:srgbClr val="FFFFFF"/>
                </a:solidFill>
                <a:latin typeface="Raleway Bold"/>
                <a:ea typeface="Raleway Bold"/>
                <a:cs typeface="Raleway Bold"/>
                <a:sym typeface="Raleway Bold"/>
              </a:rPr>
              <a:t>Coaching Partner: Freelance Yard</a:t>
            </a:r>
          </a:p>
          <a:p>
            <a:pPr marL="0" lvl="0" indent="0" algn="ctr">
              <a:lnSpc>
                <a:spcPts val="2533"/>
              </a:lnSpc>
              <a:spcBef>
                <a:spcPct val="0"/>
              </a:spcBef>
            </a:pPr>
            <a:r>
              <a:rPr lang="en-US" sz="1809" b="1" u="none" strike="noStrike">
                <a:solidFill>
                  <a:srgbClr val="FFFFFF"/>
                </a:solidFill>
                <a:latin typeface="Raleway Bold"/>
                <a:ea typeface="Raleway Bold"/>
                <a:cs typeface="Raleway Bold"/>
                <a:sym typeface="Raleway Bold"/>
              </a:rPr>
              <a:t>English Training: Berlitz</a:t>
            </a:r>
          </a:p>
          <a:p>
            <a:pPr marL="0" lvl="0" indent="0" algn="ctr">
              <a:lnSpc>
                <a:spcPts val="2533"/>
              </a:lnSpc>
              <a:spcBef>
                <a:spcPct val="0"/>
              </a:spcBef>
            </a:pPr>
            <a:r>
              <a:rPr lang="en-US" sz="1809" b="1" u="none" strike="noStrike">
                <a:solidFill>
                  <a:srgbClr val="FFFFFF"/>
                </a:solidFill>
                <a:latin typeface="Raleway Bold"/>
                <a:ea typeface="Raleway Bold"/>
                <a:cs typeface="Raleway Bold"/>
                <a:sym typeface="Raleway Bold"/>
              </a:rPr>
              <a:t>Freelance Instructor: Eng. Ahmed Hasanein</a:t>
            </a:r>
          </a:p>
        </p:txBody>
      </p:sp>
      <p:sp>
        <p:nvSpPr>
          <p:cNvPr id="37" name="TextBox 37"/>
          <p:cNvSpPr txBox="1"/>
          <p:nvPr/>
        </p:nvSpPr>
        <p:spPr>
          <a:xfrm>
            <a:off x="13038379" y="534520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38" name="TextBox 38"/>
          <p:cNvSpPr txBox="1"/>
          <p:nvPr/>
        </p:nvSpPr>
        <p:spPr>
          <a:xfrm>
            <a:off x="13490860" y="5357397"/>
            <a:ext cx="3824051" cy="333248"/>
          </a:xfrm>
          <a:prstGeom prst="rect">
            <a:avLst/>
          </a:prstGeom>
        </p:spPr>
        <p:txBody>
          <a:bodyPr lIns="0" tIns="0" rIns="0" bIns="0" rtlCol="0" anchor="t">
            <a:spAutoFit/>
          </a:bodyPr>
          <a:lstStyle/>
          <a:p>
            <a:pPr algn="l">
              <a:lnSpc>
                <a:spcPts val="2631"/>
              </a:lnSpc>
              <a:spcBef>
                <a:spcPct val="0"/>
              </a:spcBef>
            </a:pPr>
            <a:r>
              <a:rPr lang="en-US" sz="1879">
                <a:solidFill>
                  <a:srgbClr val="FFFFFF"/>
                </a:solidFill>
                <a:latin typeface="Raleway"/>
                <a:ea typeface="Raleway"/>
                <a:cs typeface="Raleway"/>
                <a:sym typeface="Raleway"/>
              </a:rPr>
              <a:t>SPECIAL THANKS</a:t>
            </a:r>
          </a:p>
        </p:txBody>
      </p:sp>
      <p:sp>
        <p:nvSpPr>
          <p:cNvPr id="39" name="Freeform 39"/>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4"/>
            <a:stretch>
              <a:fillRect/>
            </a:stretch>
          </a:blipFill>
        </p:spPr>
        <p:txBody>
          <a:bodyPr/>
          <a:lstStyle/>
          <a:p>
            <a:endParaRPr lang="ar-EG"/>
          </a:p>
        </p:txBody>
      </p:sp>
      <p:sp>
        <p:nvSpPr>
          <p:cNvPr id="40" name="Freeform 40"/>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5"/>
            <a:stretch>
              <a:fillRect r="-2988"/>
            </a:stretch>
          </a:blipFill>
        </p:spPr>
        <p:txBody>
          <a:bodyPr/>
          <a:lstStyle/>
          <a:p>
            <a:endParaRPr lang="ar-EG"/>
          </a:p>
        </p:txBody>
      </p:sp>
      <p:sp>
        <p:nvSpPr>
          <p:cNvPr id="41" name="Freeform 41"/>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
        <p:nvSpPr>
          <p:cNvPr id="42" name="TextBox 42"/>
          <p:cNvSpPr txBox="1"/>
          <p:nvPr/>
        </p:nvSpPr>
        <p:spPr>
          <a:xfrm>
            <a:off x="3025718" y="5357397"/>
            <a:ext cx="3337552" cy="666623"/>
          </a:xfrm>
          <a:prstGeom prst="rect">
            <a:avLst/>
          </a:prstGeom>
        </p:spPr>
        <p:txBody>
          <a:bodyPr lIns="0" tIns="0" rIns="0" bIns="0" rtlCol="0" anchor="t">
            <a:spAutoFit/>
          </a:bodyPr>
          <a:lstStyle/>
          <a:p>
            <a:pPr algn="l">
              <a:lnSpc>
                <a:spcPts val="2631"/>
              </a:lnSpc>
              <a:spcBef>
                <a:spcPct val="0"/>
              </a:spcBef>
            </a:pPr>
            <a:r>
              <a:rPr lang="en-US" sz="1879">
                <a:solidFill>
                  <a:srgbClr val="FFFFFF"/>
                </a:solidFill>
                <a:latin typeface="Raleway"/>
                <a:ea typeface="Raleway"/>
                <a:cs typeface="Raleway"/>
                <a:sym typeface="Raleway"/>
              </a:rPr>
              <a:t>DIGITAL EGYPT PIONEERS INITIATIVE (DEPI)</a:t>
            </a:r>
          </a:p>
        </p:txBody>
      </p:sp>
      <p:sp>
        <p:nvSpPr>
          <p:cNvPr id="43" name="TextBox 43"/>
          <p:cNvSpPr txBox="1"/>
          <p:nvPr/>
        </p:nvSpPr>
        <p:spPr>
          <a:xfrm>
            <a:off x="12636794" y="6243095"/>
            <a:ext cx="3451019" cy="1584252"/>
          </a:xfrm>
          <a:prstGeom prst="rect">
            <a:avLst/>
          </a:prstGeom>
        </p:spPr>
        <p:txBody>
          <a:bodyPr lIns="0" tIns="0" rIns="0" bIns="0" rtlCol="0" anchor="t">
            <a:spAutoFit/>
          </a:bodyPr>
          <a:lstStyle/>
          <a:p>
            <a:pPr marL="0" lvl="0" indent="0" algn="ctr">
              <a:lnSpc>
                <a:spcPts val="2533"/>
              </a:lnSpc>
              <a:spcBef>
                <a:spcPct val="0"/>
              </a:spcBef>
            </a:pPr>
            <a:r>
              <a:rPr lang="en-US" sz="1809" b="1" u="none" strike="noStrike">
                <a:solidFill>
                  <a:srgbClr val="FFFFFF"/>
                </a:solidFill>
                <a:latin typeface="Raleway Bold"/>
                <a:ea typeface="Raleway Bold"/>
                <a:cs typeface="Raleway Bold"/>
                <a:sym typeface="Raleway Bold"/>
              </a:rPr>
              <a:t>Deep appreciation to our doctor for the exceptional mentorship and insightful guidance throughout this journey.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a:p>
        </p:txBody>
      </p:sp>
      <p:grpSp>
        <p:nvGrpSpPr>
          <p:cNvPr id="3" name="Group 3"/>
          <p:cNvGrpSpPr/>
          <p:nvPr/>
        </p:nvGrpSpPr>
        <p:grpSpPr>
          <a:xfrm>
            <a:off x="16321766" y="9615834"/>
            <a:ext cx="2192753" cy="1597205"/>
            <a:chOff x="0" y="0"/>
            <a:chExt cx="577515" cy="420663"/>
          </a:xfrm>
        </p:grpSpPr>
        <p:sp>
          <p:nvSpPr>
            <p:cNvPr id="4" name="Freeform 4"/>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txBody>
            <a:bodyPr/>
            <a:lstStyle/>
            <a:p>
              <a:endParaRPr lang="ar-EG"/>
            </a:p>
          </p:txBody>
        </p:sp>
        <p:sp>
          <p:nvSpPr>
            <p:cNvPr id="5" name="TextBox 5"/>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6" name="TextBox 6"/>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18</a:t>
            </a:r>
          </a:p>
        </p:txBody>
      </p:sp>
      <p:sp>
        <p:nvSpPr>
          <p:cNvPr id="7" name="TextBox 7"/>
          <p:cNvSpPr txBox="1"/>
          <p:nvPr/>
        </p:nvSpPr>
        <p:spPr>
          <a:xfrm>
            <a:off x="4160116" y="4233886"/>
            <a:ext cx="9967769" cy="2009728"/>
          </a:xfrm>
          <a:prstGeom prst="rect">
            <a:avLst/>
          </a:prstGeom>
        </p:spPr>
        <p:txBody>
          <a:bodyPr lIns="0" tIns="0" rIns="0" bIns="0" rtlCol="0" anchor="t">
            <a:spAutoFit/>
          </a:bodyPr>
          <a:lstStyle/>
          <a:p>
            <a:pPr algn="ctr">
              <a:lnSpc>
                <a:spcPts val="15329"/>
              </a:lnSpc>
              <a:spcBef>
                <a:spcPct val="0"/>
              </a:spcBef>
            </a:pPr>
            <a:r>
              <a:rPr lang="en-US" sz="14461">
                <a:solidFill>
                  <a:srgbClr val="FFFFFF"/>
                </a:solidFill>
                <a:latin typeface="Anton"/>
                <a:ea typeface="Anton"/>
                <a:cs typeface="Anton"/>
                <a:sym typeface="Anton"/>
              </a:rPr>
              <a:t>Thank You</a:t>
            </a:r>
          </a:p>
        </p:txBody>
      </p:sp>
      <p:sp>
        <p:nvSpPr>
          <p:cNvPr id="8" name="Freeform 8"/>
          <p:cNvSpPr/>
          <p:nvPr/>
        </p:nvSpPr>
        <p:spPr>
          <a:xfrm>
            <a:off x="13887628" y="-361418"/>
            <a:ext cx="4400372" cy="2931748"/>
          </a:xfrm>
          <a:custGeom>
            <a:avLst/>
            <a:gdLst/>
            <a:ahLst/>
            <a:cxnLst/>
            <a:rect l="l" t="t" r="r" b="b"/>
            <a:pathLst>
              <a:path w="4400372" h="2931748">
                <a:moveTo>
                  <a:pt x="0" y="0"/>
                </a:moveTo>
                <a:lnTo>
                  <a:pt x="4400372" y="0"/>
                </a:lnTo>
                <a:lnTo>
                  <a:pt x="4400372" y="2931748"/>
                </a:lnTo>
                <a:lnTo>
                  <a:pt x="0" y="2931748"/>
                </a:lnTo>
                <a:lnTo>
                  <a:pt x="0" y="0"/>
                </a:lnTo>
                <a:close/>
              </a:path>
            </a:pathLst>
          </a:custGeom>
          <a:blipFill>
            <a:blip r:embed="rId3"/>
            <a:stretch>
              <a:fillRect/>
            </a:stretch>
          </a:blipFill>
        </p:spPr>
        <p:txBody>
          <a:bodyPr/>
          <a:lstStyle/>
          <a:p>
            <a:endParaRPr lang="ar-EG"/>
          </a:p>
        </p:txBody>
      </p:sp>
      <p:sp>
        <p:nvSpPr>
          <p:cNvPr id="9" name="Freeform 9"/>
          <p:cNvSpPr/>
          <p:nvPr/>
        </p:nvSpPr>
        <p:spPr>
          <a:xfrm>
            <a:off x="1096377" y="-204979"/>
            <a:ext cx="2395762" cy="2467358"/>
          </a:xfrm>
          <a:custGeom>
            <a:avLst/>
            <a:gdLst/>
            <a:ahLst/>
            <a:cxnLst/>
            <a:rect l="l" t="t" r="r" b="b"/>
            <a:pathLst>
              <a:path w="2395762" h="2467358">
                <a:moveTo>
                  <a:pt x="0" y="0"/>
                </a:moveTo>
                <a:lnTo>
                  <a:pt x="2395761" y="0"/>
                </a:lnTo>
                <a:lnTo>
                  <a:pt x="2395761" y="2467358"/>
                </a:lnTo>
                <a:lnTo>
                  <a:pt x="0" y="2467358"/>
                </a:lnTo>
                <a:lnTo>
                  <a:pt x="0" y="0"/>
                </a:lnTo>
                <a:close/>
              </a:path>
            </a:pathLst>
          </a:custGeom>
          <a:blipFill>
            <a:blip r:embed="rId4"/>
            <a:stretch>
              <a:fillRect r="-2988"/>
            </a:stretch>
          </a:blipFill>
        </p:spPr>
        <p:txBody>
          <a:bodyPr/>
          <a:lstStyle/>
          <a:p>
            <a:endParaRPr lang="ar-EG"/>
          </a:p>
        </p:txBody>
      </p:sp>
      <p:sp>
        <p:nvSpPr>
          <p:cNvPr id="10" name="Freeform 10"/>
          <p:cNvSpPr/>
          <p:nvPr/>
        </p:nvSpPr>
        <p:spPr>
          <a:xfrm>
            <a:off x="334533" y="814309"/>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35" name="Group 27">
            <a:extLst>
              <a:ext uri="{FF2B5EF4-FFF2-40B4-BE49-F238E27FC236}">
                <a16:creationId xmlns:a16="http://schemas.microsoft.com/office/drawing/2014/main" id="{84BEE8A3-02B0-C291-1741-76E1BE7BA232}"/>
              </a:ext>
            </a:extLst>
          </p:cNvPr>
          <p:cNvGrpSpPr/>
          <p:nvPr/>
        </p:nvGrpSpPr>
        <p:grpSpPr>
          <a:xfrm rot="10800000">
            <a:off x="9851729" y="7827601"/>
            <a:ext cx="10874670" cy="870537"/>
            <a:chOff x="0" y="0"/>
            <a:chExt cx="1693467" cy="232795"/>
          </a:xfrm>
        </p:grpSpPr>
        <p:sp>
          <p:nvSpPr>
            <p:cNvPr id="36" name="Freeform 28">
              <a:extLst>
                <a:ext uri="{FF2B5EF4-FFF2-40B4-BE49-F238E27FC236}">
                  <a16:creationId xmlns:a16="http://schemas.microsoft.com/office/drawing/2014/main" id="{74170C8B-F84E-D052-D2E9-8E1B2D477999}"/>
                </a:ext>
              </a:extLst>
            </p:cNvPr>
            <p:cNvSpPr/>
            <p:nvPr/>
          </p:nvSpPr>
          <p:spPr>
            <a:xfrm>
              <a:off x="0" y="0"/>
              <a:ext cx="1693467" cy="232795"/>
            </a:xfrm>
            <a:custGeom>
              <a:avLst/>
              <a:gdLst/>
              <a:ahLst/>
              <a:cxnLst/>
              <a:rect l="l" t="t" r="r" b="b"/>
              <a:pathLst>
                <a:path w="1693467" h="232795">
                  <a:moveTo>
                    <a:pt x="0" y="0"/>
                  </a:moveTo>
                  <a:lnTo>
                    <a:pt x="1693467" y="0"/>
                  </a:lnTo>
                  <a:lnTo>
                    <a:pt x="1693467" y="232795"/>
                  </a:lnTo>
                  <a:lnTo>
                    <a:pt x="0" y="232795"/>
                  </a:lnTo>
                  <a:close/>
                </a:path>
              </a:pathLst>
            </a:custGeom>
            <a:gradFill rotWithShape="1">
              <a:gsLst>
                <a:gs pos="0">
                  <a:srgbClr val="45DEEF">
                    <a:alpha val="100000"/>
                  </a:srgbClr>
                </a:gs>
                <a:gs pos="100000">
                  <a:srgbClr val="0074AD">
                    <a:alpha val="6500"/>
                  </a:srgbClr>
                </a:gs>
              </a:gsLst>
              <a:lin ang="0"/>
            </a:gradFill>
          </p:spPr>
          <p:txBody>
            <a:bodyPr/>
            <a:lstStyle/>
            <a:p>
              <a:endParaRPr lang="ar-EG" dirty="0"/>
            </a:p>
          </p:txBody>
        </p:sp>
        <p:sp>
          <p:nvSpPr>
            <p:cNvPr id="37" name="TextBox 29">
              <a:extLst>
                <a:ext uri="{FF2B5EF4-FFF2-40B4-BE49-F238E27FC236}">
                  <a16:creationId xmlns:a16="http://schemas.microsoft.com/office/drawing/2014/main" id="{A1D2215A-9B3A-761D-7B64-1BC7409AA5A2}"/>
                </a:ext>
              </a:extLst>
            </p:cNvPr>
            <p:cNvSpPr txBox="1"/>
            <p:nvPr/>
          </p:nvSpPr>
          <p:spPr>
            <a:xfrm>
              <a:off x="0" y="38100"/>
              <a:ext cx="1693467" cy="194695"/>
            </a:xfrm>
            <a:prstGeom prst="rect">
              <a:avLst/>
            </a:prstGeom>
          </p:spPr>
          <p:txBody>
            <a:bodyPr lIns="50800" tIns="50800" rIns="50800" bIns="50800" rtlCol="0" anchor="ctr"/>
            <a:lstStyle/>
            <a:p>
              <a:pPr algn="ctr">
                <a:lnSpc>
                  <a:spcPts val="2473"/>
                </a:lnSpc>
              </a:pPr>
              <a:endParaRPr/>
            </a:p>
          </p:txBody>
        </p:sp>
      </p:grpSp>
      <p:sp>
        <p:nvSpPr>
          <p:cNvPr id="12" name="TextBox 11">
            <a:extLst>
              <a:ext uri="{FF2B5EF4-FFF2-40B4-BE49-F238E27FC236}">
                <a16:creationId xmlns:a16="http://schemas.microsoft.com/office/drawing/2014/main" id="{59D886AE-766A-5384-3827-57DA87DFE814}"/>
              </a:ext>
            </a:extLst>
          </p:cNvPr>
          <p:cNvSpPr txBox="1"/>
          <p:nvPr/>
        </p:nvSpPr>
        <p:spPr>
          <a:xfrm>
            <a:off x="10092893" y="8043464"/>
            <a:ext cx="8880907" cy="646331"/>
          </a:xfrm>
          <a:prstGeom prst="rect">
            <a:avLst/>
          </a:prstGeom>
          <a:noFill/>
        </p:spPr>
        <p:txBody>
          <a:bodyPr wrap="square">
            <a:spAutoFit/>
          </a:bodyPr>
          <a:lstStyle/>
          <a:p>
            <a:pPr algn="ctr"/>
            <a:r>
              <a:rPr lang="en-US" sz="3600" dirty="0" err="1">
                <a:solidFill>
                  <a:schemeClr val="bg1"/>
                </a:solidFill>
                <a:hlinkClick r:id="rId6">
                  <a:extLst>
                    <a:ext uri="{A12FA001-AC4F-418D-AE19-62706E023703}">
                      <ahyp:hlinkClr xmlns:ahyp="http://schemas.microsoft.com/office/drawing/2018/hyperlinkcolor" val="tx"/>
                    </a:ext>
                  </a:extLst>
                </a:hlinkClick>
              </a:rPr>
              <a:t>nouranelqolob</a:t>
            </a:r>
            <a:endParaRPr lang="ar-EG" sz="3600" dirty="0">
              <a:solidFill>
                <a:schemeClr val="bg1"/>
              </a:solidFill>
            </a:endParaRPr>
          </a:p>
        </p:txBody>
      </p:sp>
      <p:sp>
        <p:nvSpPr>
          <p:cNvPr id="14" name="TextBox 13">
            <a:extLst>
              <a:ext uri="{FF2B5EF4-FFF2-40B4-BE49-F238E27FC236}">
                <a16:creationId xmlns:a16="http://schemas.microsoft.com/office/drawing/2014/main" id="{047B138F-C5AE-E43E-627D-8F11D430EA33}"/>
              </a:ext>
            </a:extLst>
          </p:cNvPr>
          <p:cNvSpPr txBox="1"/>
          <p:nvPr/>
        </p:nvSpPr>
        <p:spPr>
          <a:xfrm>
            <a:off x="6248400" y="7973466"/>
            <a:ext cx="9674942" cy="488595"/>
          </a:xfrm>
          <a:prstGeom prst="rect">
            <a:avLst/>
          </a:prstGeom>
          <a:noFill/>
        </p:spPr>
        <p:txBody>
          <a:bodyPr wrap="square">
            <a:spAutoFit/>
          </a:bodyPr>
          <a:lstStyle/>
          <a:p>
            <a:pPr algn="ctr">
              <a:lnSpc>
                <a:spcPts val="3032"/>
              </a:lnSpc>
              <a:spcBef>
                <a:spcPct val="0"/>
              </a:spcBef>
            </a:pPr>
            <a:r>
              <a:rPr lang="en-US" sz="2800" b="1" u="none" strike="noStrike" dirty="0">
                <a:solidFill>
                  <a:srgbClr val="F4F4F4"/>
                </a:solidFill>
                <a:latin typeface="TT Lakes Neue Bold"/>
                <a:ea typeface="TT Lakes Neue Bold"/>
                <a:cs typeface="TT Lakes Neue Bold"/>
                <a:sym typeface="TT Lakes Neue Bold"/>
              </a:rPr>
              <a:t>GIT </a:t>
            </a:r>
            <a:r>
              <a:rPr lang="en-US" sz="2400" b="1" dirty="0">
                <a:solidFill>
                  <a:srgbClr val="F4F4F4"/>
                </a:solidFill>
                <a:latin typeface="TT Lakes Neue Bold"/>
                <a:sym typeface="TT Lakes Neue Bold"/>
              </a:rPr>
              <a:t>HUB</a:t>
            </a:r>
            <a:endParaRPr lang="en-US" sz="2400" b="1" dirty="0">
              <a:solidFill>
                <a:srgbClr val="F4F4F4"/>
              </a:solidFill>
              <a:latin typeface="TT Lakes Neue Bold"/>
              <a:sym typeface="TT Lakes Neue"/>
            </a:endParaRPr>
          </a:p>
        </p:txBody>
      </p:sp>
      <p:sp>
        <p:nvSpPr>
          <p:cNvPr id="16" name="TextBox 15">
            <a:extLst>
              <a:ext uri="{FF2B5EF4-FFF2-40B4-BE49-F238E27FC236}">
                <a16:creationId xmlns:a16="http://schemas.microsoft.com/office/drawing/2014/main" id="{F5313178-BCEB-D069-8D0B-81BB9633948F}"/>
              </a:ext>
            </a:extLst>
          </p:cNvPr>
          <p:cNvSpPr txBox="1"/>
          <p:nvPr/>
        </p:nvSpPr>
        <p:spPr>
          <a:xfrm>
            <a:off x="-1032467" y="8074614"/>
            <a:ext cx="9674942" cy="473206"/>
          </a:xfrm>
          <a:prstGeom prst="rect">
            <a:avLst/>
          </a:prstGeom>
          <a:noFill/>
        </p:spPr>
        <p:txBody>
          <a:bodyPr wrap="square">
            <a:spAutoFit/>
          </a:bodyPr>
          <a:lstStyle/>
          <a:p>
            <a:pPr algn="ctr">
              <a:lnSpc>
                <a:spcPts val="3032"/>
              </a:lnSpc>
              <a:spcBef>
                <a:spcPct val="0"/>
              </a:spcBef>
            </a:pPr>
            <a:r>
              <a:rPr lang="en-US" sz="2400" b="1" u="none" strike="noStrike" dirty="0">
                <a:solidFill>
                  <a:srgbClr val="F4F4F4"/>
                </a:solidFill>
                <a:latin typeface="TT Lakes Neue Bold"/>
                <a:ea typeface="TT Lakes Neue Bold"/>
                <a:cs typeface="TT Lakes Neue Bold"/>
                <a:sym typeface="TT Lakes Neue Bold"/>
              </a:rPr>
              <a:t>Nouran Salah Mohamed Hussien Sultan</a:t>
            </a:r>
            <a:endParaRPr lang="en-US" sz="2400" dirty="0">
              <a:solidFill>
                <a:srgbClr val="FFFFFF"/>
              </a:solidFill>
              <a:latin typeface="TT Lakes Neue"/>
              <a:ea typeface="TT Lakes Neue"/>
              <a:cs typeface="TT Lakes Neue"/>
              <a:sym typeface="TT Lakes Neue"/>
            </a:endParaRPr>
          </a:p>
        </p:txBody>
      </p:sp>
      <p:grpSp>
        <p:nvGrpSpPr>
          <p:cNvPr id="17" name="Group 27">
            <a:extLst>
              <a:ext uri="{FF2B5EF4-FFF2-40B4-BE49-F238E27FC236}">
                <a16:creationId xmlns:a16="http://schemas.microsoft.com/office/drawing/2014/main" id="{E1C08AE6-F56A-110F-E8B6-4D96C7811718}"/>
              </a:ext>
            </a:extLst>
          </p:cNvPr>
          <p:cNvGrpSpPr/>
          <p:nvPr/>
        </p:nvGrpSpPr>
        <p:grpSpPr>
          <a:xfrm>
            <a:off x="-2966746" y="7827603"/>
            <a:ext cx="6917379" cy="940499"/>
            <a:chOff x="0" y="0"/>
            <a:chExt cx="1693467" cy="232795"/>
          </a:xfrm>
        </p:grpSpPr>
        <p:sp>
          <p:nvSpPr>
            <p:cNvPr id="18" name="Freeform 28">
              <a:extLst>
                <a:ext uri="{FF2B5EF4-FFF2-40B4-BE49-F238E27FC236}">
                  <a16:creationId xmlns:a16="http://schemas.microsoft.com/office/drawing/2014/main" id="{33785F54-49BF-12B7-1B53-058C68FEE22E}"/>
                </a:ext>
              </a:extLst>
            </p:cNvPr>
            <p:cNvSpPr/>
            <p:nvPr/>
          </p:nvSpPr>
          <p:spPr>
            <a:xfrm>
              <a:off x="0" y="0"/>
              <a:ext cx="1693467" cy="232795"/>
            </a:xfrm>
            <a:custGeom>
              <a:avLst/>
              <a:gdLst/>
              <a:ahLst/>
              <a:cxnLst/>
              <a:rect l="l" t="t" r="r" b="b"/>
              <a:pathLst>
                <a:path w="1693467" h="232795">
                  <a:moveTo>
                    <a:pt x="0" y="0"/>
                  </a:moveTo>
                  <a:lnTo>
                    <a:pt x="1693467" y="0"/>
                  </a:lnTo>
                  <a:lnTo>
                    <a:pt x="1693467" y="232795"/>
                  </a:lnTo>
                  <a:lnTo>
                    <a:pt x="0" y="232795"/>
                  </a:lnTo>
                  <a:close/>
                </a:path>
              </a:pathLst>
            </a:custGeom>
            <a:gradFill rotWithShape="1">
              <a:gsLst>
                <a:gs pos="0">
                  <a:srgbClr val="45DEEF">
                    <a:alpha val="100000"/>
                  </a:srgbClr>
                </a:gs>
                <a:gs pos="100000">
                  <a:srgbClr val="0074AD">
                    <a:alpha val="6500"/>
                  </a:srgbClr>
                </a:gs>
              </a:gsLst>
              <a:lin ang="0"/>
            </a:gradFill>
          </p:spPr>
          <p:txBody>
            <a:bodyPr/>
            <a:lstStyle/>
            <a:p>
              <a:endParaRPr lang="ar-EG" dirty="0"/>
            </a:p>
          </p:txBody>
        </p:sp>
        <p:sp>
          <p:nvSpPr>
            <p:cNvPr id="19" name="TextBox 29">
              <a:extLst>
                <a:ext uri="{FF2B5EF4-FFF2-40B4-BE49-F238E27FC236}">
                  <a16:creationId xmlns:a16="http://schemas.microsoft.com/office/drawing/2014/main" id="{2F72E4D5-1D6F-4328-0D1D-CC7AC526826A}"/>
                </a:ext>
              </a:extLst>
            </p:cNvPr>
            <p:cNvSpPr txBox="1"/>
            <p:nvPr/>
          </p:nvSpPr>
          <p:spPr>
            <a:xfrm>
              <a:off x="0" y="38100"/>
              <a:ext cx="1693467" cy="194695"/>
            </a:xfrm>
            <a:prstGeom prst="rect">
              <a:avLst/>
            </a:prstGeom>
          </p:spPr>
          <p:txBody>
            <a:bodyPr lIns="50800" tIns="50800" rIns="50800" bIns="50800" rtlCol="0" anchor="ctr"/>
            <a:lstStyle/>
            <a:p>
              <a:pPr algn="ctr">
                <a:lnSpc>
                  <a:spcPts val="2473"/>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webextension1.xml><?xml version="1.0" encoding="utf-8"?>
<we:webextension xmlns:we="http://schemas.microsoft.com/office/webextensions/webextension/2010/11" id="{861FD257-150A-40E3-8DEC-A9B7A88F350B}">
  <we:reference id="wa200003233" version="2.0.0.3" store="en-US" storeType="OMEX"/>
  <we:alternateReferences>
    <we:reference id="WA200003233" version="2.0.0.3" store="WA200003233" storeType="OMEX"/>
  </we:alternateReferences>
  <we:properties>
    <we:property name="embedUrl" value="&quot;/reportEmbed?reportId=8e1e3e71-a9f7-476c-ae0a-32ae491dd0ef&amp;config=eyJjbHVzdGVyVXJsIjoiaHR0cHM6Ly9XQUJJLVdFU1QtRVVST1BFLUYtUFJJTUFSWS1yZWRpcmVjdC5hbmFseXNpcy53aW5kb3dzLm5ldCIsImVtYmVkRmVhdHVyZXMiOnsidXNhZ2VNZXRyaWNzVk5leHQiOnRydWV9fQ%3D%3D&amp;disableSensitivityBanner=true&amp;storytellingChangeViewModeShortcutKeys=true&quot;"/>
    <we:property name="bookmark" value="&quot;H4sIAAAAAAAAA6WUTW/cIBCG/0rFeVUxMGDIMb1WVaRUuUQ5DDCs3Hhty2ajpqv894I3Ug6NVGn3YsMwPO/L15xE6td5oNcfdGBxI26n6flAy/MXEDsxnmOACNkooxSSd5GNlqaOTnPpp3EVNydRaNlzeejXIw0NVIOPgshpYyV7gmjAs5UaxNNO0DDc0b7lZBpW3omZl3Uaaej/8BlRh8py5Led4N/zMC3UhO4LFW5iLzW99puxr7r6oFj6F77nWM7R5BDRe6SELmCnZQJX09Zzwub305SG3uS/TWOhfqwyLSbRIARPLhjQlqzTUbb42o/74d3wx9yfr3Pbsv5QV9j2KPyqso3z9laXIy0b27HUkUB1Rslg9MWsYK1xyfiGCajRdPlSlrKpznYeHILyyetOmUtZqAEzBZ81QATwtkP3XxZtZ3N7LKUe4T9IH2I0yikKyMFGrGa7K5GfXs4LVxyM64gNAVppdH0nNqkr7UVd/STHmEP0KmIEeS0ygVedJXZZ6SydVRav3UQGpas5gylnxdmA89e6zKySrk8yZ8YEpLJ3F97qDfcREQeuNao1pmNZZ4p8R2PtP57EvEy1BJWet7xacmhMnN7bS/t/7wsvZ+EHGo5Nc6tdYpN5ap+/iZKWWEkFAAA=&quot;"/>
    <we:property name="datasetId" value="&quot;96705cf0-6795-405c-939f-04e3b2aa6254&quot;"/>
    <we:property name="pageName" value="&quot;d8444994ad48b4730d18&quot;"/>
    <we:property name="reportUrl" value="&quot;/links/7AfVmTxAYI?ctid=2bb6e5bc-c109-47fb-9433-c1c6f4fa33ff&amp;bookmarkGuid=3e986866-2ed6-4671-bcfd-e9396f7a7139&quot;"/>
    <we:property name="reportName" value="&quot;lan attacks analysis&quot;"/>
    <we:property name="reportState" value="&quot;CONNECTED&quot;"/>
    <we:property name="pageDisplayName" value="&quot;Home&quot;"/>
    <we:property name="backgroundColor" value="&quot;#0F1D30&quot;"/>
    <we:property name="initialStateBookmark" value="&quot;H4sIAAAAAAAAA+1aa0/cSBb9K8jSar4gVO9HvhGS1Ywmrw0oq9EIoXpcgwdj99ruTFjEf99btpsQoLuJyUadAELCrirfunXuqfuo4iKLRTsr3fkbdwbZs+x5XZ+eueZ0i2bbWTW2vX37++vd978fvdl9/RKb61lX1FWbPbvIOtccQ/ehaOeuTBKw8c/D7cyV5Tt3nN5yV7awnc2gaevKlcV/YRiMXV0zh8vtDD7NyrpxSeR+5zpIYj/icHzHuekOxxld6IqPsA+hG1q1DE5qApxyj388MSTp2w4Des3uHJJE99Pv1VXnigqnSW2E0TxQzoWWwgSnvc5jam+L6rgcFf787cH5LKFSnOEKExr+L5w2ybm8xOUQGSkwywKngkVKRHB0rawOPnW+/nSHNEWEUcxSGSPn3gQrbPo6L8puVN6fv/w0axD3i4W9lBdMSEtAKu49Ud76gKK7Ya6DevYG3wYJScCHBdhsO/tnU5/1okY6tHP/nzk05/hBmgXaYeRFtr/owOd/LR5WSSqTiKorOhyZvdp9c7TbdS6ctke7SIvztmixf0CDXG5ffXV2/avX4No56rB14HwJ18Yj4/ahRNz6Cffqcn7WK3lD5XreBHgP+eeXXq+E87umRor2swx6HfWysWdUJC+gjFma6W0ToXl+3k/1omgWnGQ3ERq1va8eZzf1OKg7V26NKGFnmhttlz2TPTOGtbNrWH0Nwijr3yeQtOsBq2LRjdr9dgO59ptj2i+kt+BSAVe0u0w/h4OXuDbtvdRZjcVKDbezk/rvvQbQHcWRkOPu2Y0fXRWw9aZK9zP3Mi6vsf1NfRIiKx2Kd83eiWu6Lz0KvnxT8k5cTSLA4NFx0F/XfPYeru+4bs7vT7kH2PhwcLCWUABgkaBntTxYTlY42O9KghfQDdhs/WMKBYJr4kaY/8t1JNwR9kgkjZ7ZQKQOLgSh5FrYR3oUwZW3kP/2bNkHzEJw+NErfCinWKAti4Ah9roNsjPAhCk9RNe5fnGzYcoChv469t3Qr/0ie1UgHoPsD66cJ7G/vMAvYv139cvoHlPiUy5seUti2yFi3X6v6CJKrpTfp2wLz3u5ZKv2g78iNjwM+mGvUm2sgWh95Mq6oKkPfG1q5Xqdn8+7DrW6lV/RQA1gqhRF0J4QEjBf3DAero5MTyT8f5HwrmjBCCb1gnhKsKIQDLgHNrVQYJwyqywFLSkLPjKgD4g8vxaIYBNOzoctcwuHq/7bXYs1f3BNMZRhYxr2QCzHtPRKbPZlVEilXhp2TbO+cetzQ+oe15P9Aa55xPxfErnpzcj9WHiwNIe85hMeCxZjfeSqdnGGMqy/qcv+aYEJQlamL4fevsBCxfsRdym8k2beuVJ150tFdvrJUWTRou8t3axNGzKd6aSmd0VVLd6TqZq67hlfROgxurLS4chvZlSU0XuhqWG5ZdQYWOtZlx6bcKGVdoFH560SHFN8uT5TWOKnueFERM+ZDhqYUgpCPlWWEF5rwSMEyXMQlAiip8qS6VjIGce4YxTLGEYE25DK5dfi+GRrkcT94NXL7bUMhJUuYrXoCSXMGqKjVHI9YZeZ0hvMPZGmjCkDyJHgyIaY8sEnERtjyNunED30edSRBKYCOgpDnAG2PqNbXVMoEcFKKh2JijvHiTRh02qKfgFHB/UpVD/DcVesq3n3dOC1xsxDDaMp94JEb2QM2mmjDJ3suDQj0loChHvpLJNSuOmyfM491dQFy3ORo27CPXAnGs2joVboiGW+9waCnnyvY3A7S4cuQlimQEfn7OSUIt0xCZcHx8GT4Az1bnIZaYDkJmqiPdHEYfiIA2wbEDt+q/e2fpZDzNtrGeIHZgCcRsgV0MiVjMC8mWpKx6ylShncVSFnLpdEyMmyjNCYsgpgEJRVhglnNoQWz8s6nELcep/qiR+bFbeWMpDCR0JUiNHnVOEvCYFOTvM9EKsNoUESHxiTVLvJficoAJNLl1OLGnoG3K73h6tdbNBYD4FHSchcFhSLeZisHjDtLYiIlRu6Wq5DfGgECJA7AMBo4nN0slxFNXlLRaWcpDkTGvNzrTwbr4omybIshxgwXAKhQnCVi4ceZcdo0axSKJ7KVEKE03oz086X1XFRPR1mf9fD7BvID6lgzEEbG4ONPqhcgjDD/71sEGXW3sL9cLVK6DF6KlbueemXK2W1xqTbO4VFi2fRTT5+yx1XgkeL0YCndM1Zkm8Y38dbp304PoOqe/KR3//C7zP0IwGdzzGtV2AZlxHTMbhHhtOeuNldBMwlshkTL2WlVoIFCw8o1h7L/cZyl79qb/706Lyuq+7kZ4iIJeYkXxMPny49V4bmx4LGYR8sLu8OdPW8a2cuwDtXwR3hqb8ujRDvG5S2E2OL8X9WV3yQ7juvgtjl5f8A1d2+2V4vAAA=&quot;"/>
    <we:property name="isFiltersActionButtonVisible" value="true"/>
    <we:property name="isVisualContainerHeaderHidden" value="false"/>
    <we:property name="reportEmbeddedTime" value="&quot;2026-05-16T01:57:03.801Z&quot;"/>
    <we:property name="creatorTenantId" value="&quot;2bb6e5bc-c109-47fb-9433-c1c6f4fa33ff&quot;"/>
    <we:property name="creatorUserId" value="&quot;100320058D506989&quot;"/>
    <we:property name="creatorSessionId" value="&quot;0e3d9542-d297-43e8-a9d0-d8116aabe9fe&quot;"/>
    <we:property name="artifactViewState" value="&quot;liv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50</TotalTime>
  <Words>752</Words>
  <Application>Microsoft Office PowerPoint</Application>
  <PresentationFormat>Custom</PresentationFormat>
  <Paragraphs>92</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Calibri</vt:lpstr>
      <vt:lpstr>Anton</vt:lpstr>
      <vt:lpstr>TT Lakes Neue Bold</vt:lpstr>
      <vt:lpstr>TT Lakes Neue</vt:lpstr>
      <vt:lpstr>Droid Arabic Kufi</vt:lpstr>
      <vt:lpstr>Arial</vt:lpstr>
      <vt:lpstr>Raleway Bold</vt:lpstr>
      <vt:lpstr>Raleway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Black Tech Modern Cyber Security Presentation</dc:title>
  <cp:lastModifiedBy>Nouran Elqolob</cp:lastModifiedBy>
  <cp:revision>8</cp:revision>
  <dcterms:created xsi:type="dcterms:W3CDTF">2006-08-16T00:00:00Z</dcterms:created>
  <dcterms:modified xsi:type="dcterms:W3CDTF">2026-05-16T01:58:40Z</dcterms:modified>
  <dc:identifier>DAHJrykJyiE</dc:identifier>
</cp:coreProperties>
</file>